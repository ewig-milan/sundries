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3"/>
    <p:sldId id="258" r:id="rId4"/>
    <p:sldId id="259" r:id="rId5"/>
    <p:sldId id="257" r:id="rId6"/>
    <p:sldId id="260" r:id="rId7"/>
    <p:sldId id="261" r:id="rId8"/>
    <p:sldId id="263" r:id="rId9"/>
    <p:sldId id="264" r:id="rId10"/>
    <p:sldId id="265" r:id="rId11"/>
    <p:sldId id="267" r:id="rId12"/>
    <p:sldId id="268" r:id="rId13"/>
    <p:sldId id="269" r:id="rId14"/>
    <p:sldId id="270" r:id="rId15"/>
    <p:sldId id="271" r:id="rId16"/>
    <p:sldId id="272" r:id="rId17"/>
    <p:sldId id="273" r:id="rId18"/>
    <p:sldId id="274" r:id="rId19"/>
    <p:sldId id="27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sym typeface="+mn-ea"/>
              </a:rPr>
              <a:t>计数杂题（</a:t>
            </a:r>
            <a:r>
              <a:rPr lang="en-US" altLang="zh-CN">
                <a:sym typeface="+mn-ea"/>
              </a:rPr>
              <a:t>2</a:t>
            </a:r>
            <a:r>
              <a:rPr lang="zh-CN" altLang="en-US">
                <a:sym typeface="+mn-ea"/>
              </a:rPr>
              <a:t>）</a:t>
            </a:r>
            <a:endParaRPr lang="zh-CN" altLang="en-US"/>
          </a:p>
        </p:txBody>
      </p:sp>
      <p:sp>
        <p:nvSpPr>
          <p:cNvPr id="3" name="副标题 2"/>
          <p:cNvSpPr>
            <a:spLocks noGrp="1"/>
          </p:cNvSpPr>
          <p:nvPr>
            <p:ph type="subTitle" idx="1"/>
          </p:nvPr>
        </p:nvSpPr>
        <p:spPr/>
        <p:txBody>
          <a:bodyPr/>
          <a:p>
            <a:r>
              <a:rPr lang="zh-CN" altLang="en-US"/>
              <a:t>苟竞予</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集训队互测</a:t>
            </a:r>
            <a:r>
              <a:rPr lang="en-US" altLang="zh-CN"/>
              <a:t> 2021 </a:t>
            </a:r>
            <a:r>
              <a:rPr lang="zh-CN" altLang="en-US"/>
              <a:t>细菌</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t>给定一个</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oMath>
                </a14:m>
                <a:r>
                  <a:rPr lang="en-US" altLang="zh-CN"/>
                  <a:t> </a:t>
                </a:r>
                <a:r>
                  <a:rPr lang="zh-CN" altLang="en-US"/>
                  <a:t>的三维空间，在此空间中用坐标</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oMath>
                </a14:m>
                <a:r>
                  <a:rPr lang="en-US" altLang="zh-CN"/>
                  <a:t> </a:t>
                </a:r>
                <a:r>
                  <a:rPr lang="zh-CN" altLang="en-US"/>
                  <a:t>描述每个点的位置（</a:t>
                </a:r>
                <a14:m>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oMath>
                </a14:m>
                <a:r>
                  <a:rPr lang="zh-CN" altLang="en-US"/>
                  <a:t>）。初始时，每个点恰有一个细菌，而接下来每天，所有细菌都会分裂。具体的，对于一个在</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oMath>
                </a14:m>
                <a:r>
                  <a:rPr lang="en-US" altLang="zh-CN"/>
                  <a:t> </a:t>
                </a:r>
                <a:r>
                  <a:rPr lang="zh-CN" altLang="en-US"/>
                  <a:t>的细菌，它会分裂成</a:t>
                </a:r>
                <a:r>
                  <a:rPr lang="en-US" altLang="zh-CN"/>
                  <a:t> </a:t>
                </a:r>
                <a14:m>
                  <m:oMath xmlns:m="http://schemas.openxmlformats.org/officeDocument/2006/math">
                    <m:r>
                      <a:rPr lang="en-US" altLang="zh-CN" i="1">
                        <a:latin typeface="Cambria Math" panose="02040503050406030204" charset="0"/>
                        <a:cs typeface="Cambria Math" panose="02040503050406030204" charset="0"/>
                      </a:rPr>
                      <m:t>6</m:t>
                    </m:r>
                  </m:oMath>
                </a14:m>
                <a:r>
                  <a:rPr lang="en-US" altLang="zh-CN"/>
                  <a:t> </a:t>
                </a:r>
                <a:r>
                  <a:rPr lang="zh-CN" altLang="en-US"/>
                  <a:t>个细菌，并分别前往</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𝑧</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，若前往的目标格不存在，则该细菌当场死亡。现在请你求出经过</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天后</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的细菌数目对</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998244353</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取模后的</a:t>
                </a:r>
                <a:r>
                  <a:rPr lang="zh-CN" altLang="en-US">
                    <a:latin typeface="Cambria Math" panose="02040503050406030204" charset="0"/>
                    <a:cs typeface="Cambria Math" panose="02040503050406030204" charset="0"/>
                  </a:rPr>
                  <a:t>结果。</a:t>
                </a:r>
                <a:endParaRPr lang="zh-CN" altLang="en-US">
                  <a:latin typeface="Cambria Math" panose="02040503050406030204" charset="0"/>
                  <a:cs typeface="Cambria Math" panose="02040503050406030204" charset="0"/>
                </a:endParaRPr>
              </a:p>
              <a:p>
                <a:pPr marL="0" indent="0">
                  <a:buNone/>
                </a:pPr>
                <a:endParaRPr lang="zh-CN" altLang="en-US">
                  <a:latin typeface="Cambria Math" panose="02040503050406030204" charset="0"/>
                  <a:cs typeface="Cambria Math" panose="02040503050406030204" charset="0"/>
                </a:endParaRPr>
              </a:p>
              <a:p>
                <a:pPr marL="0" indent="0">
                  <a:buNone/>
                </a:pPr>
                <a:r>
                  <a:rPr lang="zh-CN" altLang="en-US">
                    <a:latin typeface="Cambria Math" panose="02040503050406030204" charset="0"/>
                    <a:cs typeface="Cambria Math" panose="02040503050406030204" charset="0"/>
                  </a:rPr>
                  <a:t>数据范围：</a:t>
                </a:r>
                <a14:m>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𝑑</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10</m:t>
                        </m:r>
                      </m:e>
                      <m:sup>
                        <m:r>
                          <a:rPr lang="en-US" altLang="zh-CN" i="1">
                            <a:latin typeface="Cambria Math" panose="02040503050406030204" charset="0"/>
                            <a:cs typeface="Cambria Math" panose="02040503050406030204" charset="0"/>
                          </a:rPr>
                          <m:t>5</m:t>
                        </m:r>
                      </m:sup>
                    </m:sSup>
                  </m:oMath>
                </a14:m>
                <a:endParaRPr lang="zh-CN" altLang="en-US" i="1">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67" b="7"/>
                </a:stretch>
              </a:blipFill>
            </p:spPr>
            <p:txBody>
              <a:bodyPr/>
              <a:lstStyle/>
              <a:p>
                <a:r>
                  <a:rPr lang="zh-CN" alt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88010" y="634365"/>
                <a:ext cx="10765790" cy="5810250"/>
              </a:xfrm>
            </p:spPr>
            <p:txBody>
              <a:bodyPr/>
              <a:p>
                <a:r>
                  <a:rPr lang="zh-CN" altLang="en-US"/>
                  <a:t>考虑将过程倒过来，每次选择一个维度</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a14:m>
                <a:r>
                  <a:rPr lang="zh-CN" altLang="en-US">
                    <a:latin typeface="Cambria Math" panose="02040503050406030204" charset="0"/>
                    <a:cs typeface="Cambria Math" panose="02040503050406030204" charset="0"/>
                  </a:rPr>
                  <a:t>，求合法游走的</a:t>
                </a:r>
                <a:r>
                  <a:rPr lang="zh-CN" altLang="en-US">
                    <a:latin typeface="Cambria Math" panose="02040503050406030204" charset="0"/>
                    <a:cs typeface="Cambria Math" panose="02040503050406030204" charset="0"/>
                  </a:rPr>
                  <a:t>方案数</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这相当于三个维度相对独立，除了总共游走的步数必须恰好为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步，因此我们需要求出每个维度合法游走</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步的方案数，再将答案卷积起来就是最终的</a:t>
                </a:r>
                <a:r>
                  <a:rPr lang="zh-CN" altLang="en-US">
                    <a:latin typeface="Cambria Math" panose="02040503050406030204" charset="0"/>
                    <a:cs typeface="Cambria Math" panose="02040503050406030204" charset="0"/>
                  </a:rPr>
                  <a:t>答案</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考虑这是一个经典的双线容斥问题，该问题的处理方法类似单线容斥，只需要考虑向上</a:t>
                </a:r>
                <a:r>
                  <a:rPr lang="en-US" altLang="zh-CN">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向下翻折多少次，奇减偶加，那么对于固定翻折次数后可以考虑按照步数从小到大进行递推，这种处理办法的时间复杂度是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𝑑</m:t>
                            </m:r>
                          </m:e>
                          <m:sup>
                            <m:r>
                              <a:rPr lang="en-US" altLang="zh-CN" i="1">
                                <a:latin typeface="Cambria Math" panose="02040503050406030204" charset="0"/>
                                <a:cs typeface="Cambria Math" panose="02040503050406030204" charset="0"/>
                              </a:rPr>
                              <m:t>2</m:t>
                            </m:r>
                          </m:sup>
                        </m:sSup>
                      </m:num>
                      <m:den>
                        <m:r>
                          <a:rPr lang="en-US" altLang="zh-CN" i="1">
                            <a:latin typeface="Cambria Math" panose="02040503050406030204" charset="0"/>
                            <a:cs typeface="Cambria Math" panose="02040503050406030204" charset="0"/>
                          </a:rPr>
                          <m:t>𝑛</m:t>
                        </m:r>
                      </m:den>
                    </m:f>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那么怎么处理维度较小的情况呢？可以考虑放弃容斥而直接</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zh-CN" altLang="en-US">
                    <a:latin typeface="Cambria Math" panose="02040503050406030204" charset="0"/>
                    <a:cs typeface="Cambria Math" panose="02040503050406030204" charset="0"/>
                  </a:rPr>
                  <a:t>，那么这一部分复杂度便是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𝑑𝑛</m:t>
                    </m:r>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，综合一下可知总复杂度</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𝑑</m:t>
                    </m:r>
                    <m:rad>
                      <m:radPr>
                        <m:degHide m:val="on"/>
                        <m:ctrlPr>
                          <a:rPr lang="en-US" altLang="zh-CN" i="1">
                            <a:latin typeface="Cambria Math" panose="02040503050406030204" charset="0"/>
                            <a:cs typeface="Cambria Math" panose="02040503050406030204" charset="0"/>
                          </a:rPr>
                        </m:ctrlPr>
                      </m:radPr>
                      <m:deg/>
                      <m:e>
                        <m:r>
                          <a:rPr lang="en-US" altLang="zh-CN" i="1">
                            <a:latin typeface="Cambria Math" panose="02040503050406030204" charset="0"/>
                            <a:cs typeface="Cambria Math" panose="02040503050406030204" charset="0"/>
                          </a:rPr>
                          <m:t>𝑑</m:t>
                        </m:r>
                      </m:e>
                    </m:rad>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事实上还有一种分治</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𝑓𝑓𝑡</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的做法，具体只需要考虑第</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步恰好第一次触碰上</a:t>
                </a:r>
                <a:r>
                  <a:rPr lang="en-US" altLang="zh-CN">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下边界的方案，但该做法太劣没有</a:t>
                </a:r>
                <a:r>
                  <a:rPr lang="zh-CN" altLang="en-US">
                    <a:latin typeface="Cambria Math" panose="02040503050406030204" charset="0"/>
                    <a:cs typeface="Cambria Math" panose="02040503050406030204" charset="0"/>
                  </a:rPr>
                  <a:t>参考价值</a:t>
                </a:r>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588010" y="634365"/>
                <a:ext cx="10765790" cy="5810250"/>
              </a:xfrm>
              <a:blipFill rotWithShape="1">
                <a:blip r:embed="rId1"/>
                <a:stretch>
                  <a:fillRect t="-350" r="-212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ucup.stage4-3-E Maximum Segment Sum</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latin typeface="微软雅黑" panose="020B0503020204020204" charset="-122"/>
                    <a:ea typeface="微软雅黑" panose="020B0503020204020204" charset="-122"/>
                    <a:cs typeface="微软雅黑" panose="020B0503020204020204" charset="-122"/>
                    <a:sym typeface="+mn-ea"/>
                  </a:rPr>
                  <a:t>给定一个序列</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𝑛</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序列的每一项可以是</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1</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或者</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对于所有的</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𝑘</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请求出最大子段和恰为</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𝑘</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的序列方案数</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结果对</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998244353</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取模</a:t>
                </a:r>
                <a:r>
                  <a:rPr lang="en-US" altLang="zh-CN">
                    <a:latin typeface="微软雅黑" panose="020B0503020204020204" charset="-122"/>
                    <a:ea typeface="微软雅黑" panose="020B0503020204020204" charset="-122"/>
                    <a:cs typeface="微软雅黑" panose="020B0503020204020204" charset="-122"/>
                    <a:sym typeface="+mn-ea"/>
                  </a:rPr>
                  <a:t>，</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5</m:t>
                    </m:r>
                    <m:r>
                      <a:rPr lang="en-US" altLang="zh-CN" i="1">
                        <a:latin typeface="Cambria Math" panose="02040503050406030204" charset="0"/>
                        <a:ea typeface="MS Mincho" charset="0"/>
                        <a:cs typeface="Cambria Math" panose="02040503050406030204" charset="0"/>
                      </a:rPr>
                      <m:t>×</m:t>
                    </m:r>
                    <m:sSup>
                      <m:sSupPr>
                        <m:ctrlPr>
                          <a:rPr lang="en-US" altLang="zh-CN" i="1">
                            <a:latin typeface="Cambria Math" panose="02040503050406030204" charset="0"/>
                            <a:ea typeface="微软雅黑" panose="020B0503020204020204" charset="-122"/>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10</m:t>
                        </m:r>
                      </m:e>
                      <m:sup>
                        <m:r>
                          <a:rPr lang="en-US" altLang="zh-CN" i="1">
                            <a:latin typeface="Cambria Math" panose="02040503050406030204" charset="0"/>
                            <a:ea typeface="MS Mincho" charset="0"/>
                            <a:cs typeface="Cambria Math" panose="02040503050406030204" charset="0"/>
                          </a:rPr>
                          <m:t>5</m:t>
                        </m:r>
                      </m:sup>
                    </m:sSup>
                  </m:oMath>
                </a14:m>
                <a:endParaRPr lang="zh-CN" altLang="en-US">
                  <a:latin typeface="微软雅黑" panose="020B0503020204020204" charset="-122"/>
                  <a:ea typeface="微软雅黑" panose="020B0503020204020204" charset="-122"/>
                  <a:cs typeface="微软雅黑" panose="020B0503020204020204"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67" b="7"/>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7695" y="828040"/>
                <a:ext cx="10746105" cy="5349240"/>
              </a:xfrm>
            </p:spPr>
            <p:txBody>
              <a:bodyPr/>
              <a:p>
                <a:r>
                  <a:rPr lang="zh-CN" altLang="en-US">
                    <a:latin typeface="微软雅黑" panose="020B0503020204020204" charset="-122"/>
                    <a:ea typeface="微软雅黑" panose="020B0503020204020204" charset="-122"/>
                    <a:cs typeface="微软雅黑" panose="020B0503020204020204" charset="-122"/>
                    <a:sym typeface="+mn-ea"/>
                  </a:rPr>
                  <a:t>考虑最大子段和算法的单变量求法</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设定变量</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𝑐𝑢𝑟</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0</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遍历</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𝑖</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从</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遇到</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sSub>
                      <m:sSubPr>
                        <m:ctrlPr>
                          <a:rPr lang="en-US" altLang="zh-CN" i="1">
                            <a:latin typeface="Cambria Math" panose="02040503050406030204" charset="0"/>
                            <a:ea typeface="微软雅黑" panose="020B0503020204020204" charset="-122"/>
                            <a:cs typeface="Cambria Math" panose="02040503050406030204" charset="0"/>
                          </a:rPr>
                        </m:ctrlPr>
                      </m:sSubPr>
                      <m:e>
                        <m:r>
                          <a:rPr lang="en-US" altLang="zh-CN" i="1">
                            <a:latin typeface="Cambria Math" panose="02040503050406030204" charset="0"/>
                            <a:ea typeface="微软雅黑" panose="020B0503020204020204" charset="-122"/>
                            <a:cs typeface="Cambria Math" panose="02040503050406030204" charset="0"/>
                          </a:rPr>
                          <m:t>𝑎</m:t>
                        </m:r>
                      </m:e>
                      <m:sub>
                        <m:r>
                          <a:rPr lang="en-US" altLang="zh-CN" i="1">
                            <a:latin typeface="Cambria Math" panose="02040503050406030204" charset="0"/>
                            <a:ea typeface="微软雅黑" panose="020B0503020204020204" charset="-122"/>
                            <a:cs typeface="Cambria Math" panose="02040503050406030204" charset="0"/>
                          </a:rPr>
                          <m:t>𝑖</m:t>
                        </m:r>
                      </m:sub>
                    </m:sSub>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后将</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𝑐𝑢𝑟</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𝑚𝑎𝑥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𝑐𝑢𝑟</m:t>
                    </m:r>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微软雅黑" panose="020B0503020204020204" charset="-122"/>
                            <a:cs typeface="Cambria Math" panose="02040503050406030204" charset="0"/>
                          </a:rPr>
                        </m:ctrlPr>
                      </m:sSubPr>
                      <m:e>
                        <m:r>
                          <a:rPr lang="en-US" altLang="zh-CN" i="1">
                            <a:latin typeface="Cambria Math" panose="02040503050406030204" charset="0"/>
                            <a:ea typeface="微软雅黑" panose="020B0503020204020204" charset="-122"/>
                            <a:cs typeface="Cambria Math" panose="02040503050406030204" charset="0"/>
                          </a:rPr>
                          <m:t>𝑎</m:t>
                        </m:r>
                      </m:e>
                      <m:sub>
                        <m:r>
                          <a:rPr lang="en-US" altLang="zh-CN" i="1">
                            <a:latin typeface="Cambria Math" panose="02040503050406030204" charset="0"/>
                            <a:ea typeface="微软雅黑" panose="020B0503020204020204" charset="-122"/>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问题转化</a:t>
                </a:r>
                <a:r>
                  <a:rPr lang="zh-CN" altLang="en-US">
                    <a:latin typeface="微软雅黑" panose="020B0503020204020204" charset="-122"/>
                    <a:ea typeface="微软雅黑" panose="020B0503020204020204" charset="-122"/>
                    <a:cs typeface="微软雅黑" panose="020B0503020204020204" charset="-122"/>
                    <a:sym typeface="+mn-ea"/>
                  </a:rPr>
                  <a:t>为最终的</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𝑐𝑢𝑟</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分别为</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的序列方案总数</a:t>
                </a:r>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sym typeface="+mn-ea"/>
                  </a:rPr>
                  <a:t>考虑一种</a:t>
                </a:r>
                <a:r>
                  <a:rPr lang="zh-CN" altLang="en-US">
                    <a:latin typeface="微软雅黑" panose="020B0503020204020204" charset="-122"/>
                    <a:ea typeface="微软雅黑" panose="020B0503020204020204" charset="-122"/>
                    <a:cs typeface="微软雅黑" panose="020B0503020204020204" charset="-122"/>
                    <a:sym typeface="+mn-ea"/>
                  </a:rPr>
                  <a:t>特殊的格路计数</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每一次只能从</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𝑚𝑎𝑥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𝑥</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这既可以描述</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𝑖</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𝑐𝑢𝑟</m:t>
                    </m:r>
                    <m:r>
                      <a:rPr lang="en-US" altLang="zh-CN" i="1">
                        <a:latin typeface="Cambria Math" panose="02040503050406030204" charset="0"/>
                        <a:ea typeface="MS Mincho" charset="0"/>
                        <a:cs typeface="Cambria Math" panose="02040503050406030204" charset="0"/>
                      </a:rPr>
                      <m:t>)</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这个二元组的变化</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又可以把</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&gt;</m:t>
                    </m:r>
                    <m:r>
                      <a:rPr lang="en-US" altLang="zh-CN" i="1">
                        <a:latin typeface="Cambria Math" panose="02040503050406030204" charset="0"/>
                        <a:ea typeface="MS Mincho" charset="0"/>
                        <a:cs typeface="Cambria Math" panose="02040503050406030204" charset="0"/>
                      </a:rPr>
                      <m:t>0</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的部分视作上述定义格路计数的一个放缩加旋转</a:t>
                </a:r>
                <a:r>
                  <a:rPr lang="en-US" altLang="zh-CN">
                    <a:latin typeface="微软雅黑" panose="020B0503020204020204" charset="-122"/>
                    <a:ea typeface="微软雅黑" panose="020B0503020204020204" charset="-122"/>
                    <a:cs typeface="微软雅黑" panose="020B0503020204020204" charset="-122"/>
                    <a:sym typeface="+mn-ea"/>
                  </a:rPr>
                  <a:t>45</a:t>
                </a:r>
                <a:r>
                  <a:rPr lang="zh-CN" altLang="en-US">
                    <a:latin typeface="微软雅黑" panose="020B0503020204020204" charset="-122"/>
                    <a:ea typeface="微软雅黑" panose="020B0503020204020204" charset="-122"/>
                    <a:cs typeface="微软雅黑" panose="020B0503020204020204" charset="-122"/>
                    <a:sym typeface="+mn-ea"/>
                  </a:rPr>
                  <a:t>度</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如下图所示</a:t>
                </a:r>
                <a:endParaRPr lang="zh-CN" altLang="en-US">
                  <a:latin typeface="微软雅黑" panose="020B0503020204020204" charset="-122"/>
                  <a:ea typeface="微软雅黑" panose="020B0503020204020204" charset="-122"/>
                  <a:cs typeface="微软雅黑" panose="020B0503020204020204"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7695" y="828040"/>
                <a:ext cx="10746105" cy="5349240"/>
              </a:xfrm>
              <a:blipFill rotWithShape="1">
                <a:blip r:embed="rId1"/>
                <a:stretch>
                  <a:fillRect t="-380"/>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3873500" y="3429000"/>
            <a:ext cx="6674485" cy="3175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94385" y="1170305"/>
                <a:ext cx="10559415" cy="5006975"/>
              </a:xfrm>
            </p:spPr>
            <p:txBody>
              <a:bodyPr/>
              <a:p>
                <a:r>
                  <a:rPr lang="zh-CN" altLang="en-US">
                    <a:latin typeface="微软雅黑" panose="020B0503020204020204" charset="-122"/>
                    <a:ea typeface="微软雅黑" panose="020B0503020204020204" charset="-122"/>
                    <a:cs typeface="微软雅黑" panose="020B0503020204020204" charset="-122"/>
                    <a:sym typeface="+mn-ea"/>
                  </a:rPr>
                  <a:t>先将恰好为</a:t>
                </a:r>
                <a:r>
                  <a:rPr lang="en-US" altLang="zh-CN">
                    <a:latin typeface="微软雅黑" panose="020B0503020204020204" charset="-122"/>
                    <a:ea typeface="微软雅黑" panose="020B0503020204020204" charset="-122"/>
                    <a:cs typeface="微软雅黑" panose="020B0503020204020204" charset="-122"/>
                    <a:sym typeface="+mn-ea"/>
                  </a:rPr>
                  <a:t> k </a:t>
                </a:r>
                <a:r>
                  <a:rPr lang="zh-CN" altLang="en-US">
                    <a:latin typeface="微软雅黑" panose="020B0503020204020204" charset="-122"/>
                    <a:ea typeface="微软雅黑" panose="020B0503020204020204" charset="-122"/>
                    <a:cs typeface="微软雅黑" panose="020B0503020204020204" charset="-122"/>
                    <a:sym typeface="+mn-ea"/>
                  </a:rPr>
                  <a:t>变成计算不超过</a:t>
                </a:r>
                <a:r>
                  <a:rPr lang="en-US" altLang="zh-CN">
                    <a:latin typeface="微软雅黑" panose="020B0503020204020204" charset="-122"/>
                    <a:ea typeface="微软雅黑" panose="020B0503020204020204" charset="-122"/>
                    <a:cs typeface="微软雅黑" panose="020B0503020204020204" charset="-122"/>
                    <a:sym typeface="+mn-ea"/>
                  </a:rPr>
                  <a:t> </a:t>
                </a:r>
                <a:r>
                  <a:rPr lang="en-US" altLang="zh-CN" i="1">
                    <a:latin typeface="微软雅黑" panose="020B0503020204020204" charset="-122"/>
                    <a:ea typeface="微软雅黑" panose="020B0503020204020204" charset="-122"/>
                    <a:cs typeface="微软雅黑" panose="020B0503020204020204" charset="-122"/>
                    <a:sym typeface="+mn-ea"/>
                  </a:rPr>
                  <a:t>k </a:t>
                </a:r>
                <a:r>
                  <a:rPr lang="zh-CN" altLang="en-US">
                    <a:latin typeface="微软雅黑" panose="020B0503020204020204" charset="-122"/>
                    <a:ea typeface="微软雅黑" panose="020B0503020204020204" charset="-122"/>
                    <a:cs typeface="微软雅黑" panose="020B0503020204020204" charset="-122"/>
                    <a:sym typeface="+mn-ea"/>
                  </a:rPr>
                  <a:t>的方案数后差分</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再将</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𝑘</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的</a:t>
                </a:r>
                <a:r>
                  <a:rPr lang="zh-CN" altLang="en-US">
                    <a:latin typeface="微软雅黑" panose="020B0503020204020204" charset="-122"/>
                    <a:ea typeface="微软雅黑" panose="020B0503020204020204" charset="-122"/>
                    <a:cs typeface="微软雅黑" panose="020B0503020204020204" charset="-122"/>
                    <a:sym typeface="+mn-ea"/>
                  </a:rPr>
                  <a:t>限制转化为</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𝑘</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这条线不可触碰</a:t>
                </a:r>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sym typeface="+mn-ea"/>
                  </a:rPr>
                  <a:t>但这样仍然存在一个问题</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就是如何解决与</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0</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取</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𝑚𝑎𝑥</m:t>
                    </m:r>
                  </m:oMath>
                </a14:m>
                <a:r>
                  <a:rPr lang="en-US" altLang="zh-CN">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这个限制</a:t>
                </a:r>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sym typeface="+mn-ea"/>
                  </a:rPr>
                  <a:t>我们可以考虑不与</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MS Mincho" charset="0"/>
                        <a:cs typeface="Cambria Math" panose="02040503050406030204" charset="0"/>
                      </a:rPr>
                      <m:t>0</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取</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𝑚𝑎𝑥</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因为第一次取</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𝑚𝑎𝑥</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有效的时候都是</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这时可以将折线的后半部分视作将原折线关于</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5</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翻折后的结果</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这样就变成了自由行走但不能触碰</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𝑘</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和</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𝑦</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𝑘</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2</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这两条直线</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这时一个经典的双线反射容斥问题</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由于公式中每一个</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𝑓</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所对应的值本质是上标为</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𝑛</m:t>
                    </m:r>
                  </m:oMath>
                </a14:m>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的组合数的一段下标区间求和</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可以在预处理之后对单个</a:t>
                </a:r>
                <a:r>
                  <a:rPr lang="en-US" altLang="zh-CN">
                    <a:latin typeface="微软雅黑" panose="020B0503020204020204" charset="-122"/>
                    <a:ea typeface="微软雅黑" panose="020B0503020204020204" charset="-122"/>
                    <a:cs typeface="微软雅黑" panose="020B0503020204020204" charset="-122"/>
                    <a:sym typeface="+mn-ea"/>
                  </a:rPr>
                  <a:t> </a:t>
                </a:r>
                <a:r>
                  <a:rPr lang="en-US" altLang="zh-CN" i="1">
                    <a:latin typeface="微软雅黑" panose="020B0503020204020204" charset="-122"/>
                    <a:ea typeface="微软雅黑" panose="020B0503020204020204" charset="-122"/>
                    <a:cs typeface="微软雅黑" panose="020B0503020204020204" charset="-122"/>
                    <a:sym typeface="+mn-ea"/>
                  </a:rPr>
                  <a:t>k</a:t>
                </a:r>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做到复杂度</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𝑂</m:t>
                    </m:r>
                    <m:r>
                      <a:rPr lang="en-US" altLang="zh-CN" i="1">
                        <a:latin typeface="Cambria Math" panose="02040503050406030204" charset="0"/>
                        <a:ea typeface="MS Mincho" charset="0"/>
                        <a:cs typeface="Cambria Math" panose="02040503050406030204" charset="0"/>
                      </a:rPr>
                      <m:t>(</m:t>
                    </m:r>
                    <m:f>
                      <m:fPr>
                        <m:ctrlPr>
                          <a:rPr lang="en-US" altLang="zh-CN" i="1">
                            <a:latin typeface="Cambria Math" panose="02040503050406030204" charset="0"/>
                            <a:ea typeface="微软雅黑" panose="020B0503020204020204" charset="-122"/>
                            <a:cs typeface="Cambria Math" panose="02040503050406030204" charset="0"/>
                          </a:rPr>
                        </m:ctrlPr>
                      </m:fPr>
                      <m:num>
                        <m:r>
                          <a:rPr lang="en-US" altLang="zh-CN" i="1">
                            <a:latin typeface="Cambria Math" panose="02040503050406030204" charset="0"/>
                            <a:ea typeface="微软雅黑" panose="020B0503020204020204" charset="-122"/>
                            <a:cs typeface="Cambria Math" panose="02040503050406030204" charset="0"/>
                          </a:rPr>
                          <m:t>𝑛</m:t>
                        </m:r>
                      </m:num>
                      <m:den>
                        <m:r>
                          <a:rPr lang="en-US" altLang="zh-CN" i="1">
                            <a:latin typeface="Cambria Math" panose="02040503050406030204" charset="0"/>
                            <a:ea typeface="微软雅黑" panose="020B0503020204020204" charset="-122"/>
                            <a:cs typeface="Cambria Math" panose="02040503050406030204" charset="0"/>
                          </a:rPr>
                          <m:t>𝑘</m:t>
                        </m:r>
                      </m:den>
                    </m:f>
                    <m:r>
                      <a:rPr lang="en-US" altLang="zh-CN" i="1">
                        <a:latin typeface="Cambria Math" panose="02040503050406030204" charset="0"/>
                        <a:ea typeface="MS Mincho" charset="0"/>
                        <a:cs typeface="Cambria Math" panose="02040503050406030204" charset="0"/>
                      </a:rPr>
                      <m:t>)</m:t>
                    </m:r>
                  </m:oMath>
                </a14:m>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总复杂度为调和级数</a:t>
                </a:r>
                <a:r>
                  <a:rPr lang="en-US" altLang="zh-CN">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𝑂</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微软雅黑" panose="020B0503020204020204" charset="-122"/>
                        <a:cs typeface="Cambria Math" panose="02040503050406030204" charset="0"/>
                      </a:rPr>
                      <m:t>𝑛</m:t>
                    </m:r>
                    <m:r>
                      <a:rPr lang="en-US" altLang="zh-CN" i="1">
                        <a:latin typeface="Cambria Math" panose="02040503050406030204" charset="0"/>
                        <a:ea typeface="MS Mincho" charset="0"/>
                        <a:cs typeface="Cambria Math" panose="02040503050406030204" charset="0"/>
                      </a:rPr>
                      <m:t> </m:t>
                    </m:r>
                    <m:func>
                      <m:funcPr>
                        <m:ctrlPr>
                          <a:rPr lang="en-US" altLang="zh-CN">
                            <a:latin typeface="Cambria Math" panose="02040503050406030204" charset="0"/>
                            <a:ea typeface="微软雅黑" panose="020B0503020204020204" charset="-122"/>
                            <a:cs typeface="Cambria Math" panose="02040503050406030204" charset="0"/>
                          </a:rPr>
                        </m:ctrlPr>
                      </m:funcPr>
                      <m:fName>
                        <m:r>
                          <m:rPr>
                            <m:sty m:val="p"/>
                          </m:rPr>
                          <a:rPr lang="en-US" altLang="zh-CN">
                            <a:latin typeface="Cambria Math" panose="02040503050406030204" charset="0"/>
                            <a:ea typeface="微软雅黑" panose="020B0503020204020204" charset="-122"/>
                            <a:cs typeface="Cambria Math" panose="02040503050406030204" charset="0"/>
                          </a:rPr>
                          <m:t>ln</m:t>
                        </m:r>
                      </m:fName>
                      <m:e>
                        <m:r>
                          <a:rPr lang="en-US" altLang="zh-CN" i="1">
                            <a:latin typeface="Cambria Math" panose="02040503050406030204" charset="0"/>
                            <a:ea typeface="微软雅黑" panose="020B0503020204020204" charset="-122"/>
                            <a:cs typeface="Cambria Math" panose="02040503050406030204" charset="0"/>
                          </a:rPr>
                          <m:t>𝑛</m:t>
                        </m:r>
                      </m:e>
                    </m:func>
                    <m:r>
                      <a:rPr lang="en-US" altLang="zh-CN" i="1">
                        <a:latin typeface="Cambria Math" panose="02040503050406030204" charset="0"/>
                        <a:ea typeface="MS Mincho" charset="0"/>
                        <a:cs typeface="Cambria Math" panose="02040503050406030204" charset="0"/>
                      </a:rPr>
                      <m:t>)</m:t>
                    </m:r>
                  </m:oMath>
                </a14:m>
                <a:endParaRPr lang="en-US" altLang="zh-CN">
                  <a:latin typeface="微软雅黑" panose="020B0503020204020204" charset="-122"/>
                  <a:ea typeface="微软雅黑" panose="020B0503020204020204" charset="-122"/>
                  <a:cs typeface="微软雅黑" panose="020B0503020204020204" charset="-122"/>
                </a:endParaRPr>
              </a:p>
              <a:p>
                <a:endParaRPr lang="en-US" altLang="zh-CN">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794385" y="1170305"/>
                <a:ext cx="10559415" cy="5006975"/>
              </a:xfrm>
              <a:blipFill rotWithShape="1">
                <a:blip r:embed="rId1"/>
                <a:stretch>
                  <a:fillRect t="-406" b="-631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[KTSC 2023 R2] </a:t>
            </a:r>
            <a:r>
              <a:rPr lang="zh-CN" altLang="en-US"/>
              <a:t>会议室</a:t>
            </a:r>
            <a:r>
              <a:rPr lang="en-US" altLang="zh-CN"/>
              <a:t> 2</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t>给定</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𝑛</m:t>
                    </m:r>
                  </m:oMath>
                </a14:m>
                <a:r>
                  <a:rPr lang="en-US" altLang="zh-CN"/>
                  <a:t> </a:t>
                </a:r>
                <a:r>
                  <a:rPr lang="zh-CN" altLang="en-US"/>
                  <a:t>条线段</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𝑙</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，有一个</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𝑛</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个点的无向图，现在无向图</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号点和</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𝑗</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号点有边相连当且仅当</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𝑙</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与</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𝑙</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有重叠</a:t>
                </a:r>
                <a:r>
                  <a:rPr lang="zh-CN" altLang="en-US">
                    <a:latin typeface="Cambria Math" panose="02040503050406030204" charset="0"/>
                    <a:cs typeface="Cambria Math" panose="02040503050406030204" charset="0"/>
                  </a:rPr>
                  <a:t>部分。</a:t>
                </a:r>
                <a:endParaRPr lang="zh-CN" altLang="en-US">
                  <a:latin typeface="Cambria Math" panose="02040503050406030204" charset="0"/>
                  <a:cs typeface="Cambria Math" panose="02040503050406030204" charset="0"/>
                </a:endParaRPr>
              </a:p>
              <a:p>
                <a:pPr marL="0" indent="0">
                  <a:buNone/>
                </a:pPr>
                <a:r>
                  <a:rPr lang="zh-CN" altLang="en-US">
                    <a:latin typeface="Cambria Math" panose="02040503050406030204" charset="0"/>
                    <a:cs typeface="Cambria Math" panose="02040503050406030204" charset="0"/>
                  </a:rPr>
                  <a:t>你要进行</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次操作，每次删去一条线段，求在最小化每次操作后图的连通块数量之和的前提下，有多少种删的方案。答案对</a:t>
                </a:r>
                <a:r>
                  <a:rPr lang="en-US" altLang="zh-CN">
                    <a:latin typeface="Cambria Math" panose="02040503050406030204" charset="0"/>
                    <a:cs typeface="Cambria Math" panose="02040503050406030204" charset="0"/>
                  </a:rPr>
                  <a:t>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10</m:t>
                        </m:r>
                      </m:e>
                      <m:sup>
                        <m:r>
                          <a:rPr lang="en-US" altLang="zh-CN" i="1">
                            <a:latin typeface="Cambria Math" panose="02040503050406030204" charset="0"/>
                            <a:cs typeface="Cambria Math" panose="02040503050406030204" charset="0"/>
                          </a:rPr>
                          <m:t>9</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7</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取模。</a:t>
                </a:r>
                <a:endParaRPr lang="zh-CN" altLang="en-US">
                  <a:latin typeface="Cambria Math" panose="02040503050406030204" charset="0"/>
                  <a:cs typeface="Cambria Math" panose="0204050305040603020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2000</m:t>
                      </m:r>
                    </m:oMath>
                  </m:oMathPara>
                </a14:m>
                <a:endParaRPr lang="en-US" altLang="zh-CN" i="1">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52" b="7"/>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26440" y="619760"/>
                <a:ext cx="10627360" cy="5557520"/>
              </a:xfrm>
            </p:spPr>
            <p:txBody>
              <a:bodyPr/>
              <a:p>
                <a:r>
                  <a:rPr lang="zh-CN" altLang="en-US"/>
                  <a:t>首先考虑怎么删能使连通块数量和最小。显然是按连通块大小从小到大删，并且删的过程要保证连通块不分裂。</a:t>
                </a:r>
                <a:endParaRPr lang="zh-CN" altLang="en-US"/>
              </a:p>
              <a:p>
                <a:r>
                  <a:rPr lang="zh-CN" altLang="en-US"/>
                  <a:t>那么我们只需要计算每个连通块内部合法的删除方案，然后</a:t>
                </a:r>
                <a:r>
                  <a:rPr lang="zh-CN" altLang="en-US"/>
                  <a:t>再乘上</a:t>
                </a:r>
                <a:r>
                  <a:rPr lang="en-US" altLang="zh-CN"/>
                  <a:t> </a:t>
                </a:r>
                <a14:m>
                  <m:oMath xmlns:m="http://schemas.openxmlformats.org/officeDocument/2006/math">
                    <m:nary>
                      <m:naryPr>
                        <m:chr m:val="∏"/>
                        <m:limLoc m:val="subSup"/>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e>
                    </m:nary>
                  </m:oMath>
                </a14:m>
                <a:r>
                  <a:rPr lang="zh-CN" altLang="en-US">
                    <a:latin typeface="Cambria Math" panose="02040503050406030204" charset="0"/>
                    <a:cs typeface="Cambria Math" panose="02040503050406030204" charset="0"/>
                  </a:rPr>
                  <a:t>，其中</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𝑖</m:t>
                        </m:r>
                      </m:sub>
                    </m:sSub>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表示大小为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的连通块</a:t>
                </a:r>
                <a:r>
                  <a:rPr lang="zh-CN" altLang="en-US">
                    <a:latin typeface="Cambria Math" panose="02040503050406030204" charset="0"/>
                    <a:cs typeface="Cambria Math" panose="02040503050406030204" charset="0"/>
                  </a:rPr>
                  <a:t>数目</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还有一个</a:t>
                </a:r>
                <a:r>
                  <a:rPr lang="zh-CN" altLang="en-US">
                    <a:latin typeface="Cambria Math" panose="02040503050406030204" charset="0"/>
                    <a:cs typeface="Cambria Math" panose="02040503050406030204" charset="0"/>
                  </a:rPr>
                  <a:t>关键性质：一个连通块，它内部线段的并集一定仍是一个</a:t>
                </a:r>
                <a:r>
                  <a:rPr lang="zh-CN" altLang="en-US">
                    <a:latin typeface="Cambria Math" panose="02040503050406030204" charset="0"/>
                    <a:cs typeface="Cambria Math" panose="02040503050406030204" charset="0"/>
                  </a:rPr>
                  <a:t>线段</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因此，我们对每个连通块，可以考虑计算从空开始，每次加入一条线段，并且维持加入的线段的并仍然是一条线段的</a:t>
                </a:r>
                <a:r>
                  <a:rPr lang="zh-CN" altLang="en-US">
                    <a:latin typeface="Cambria Math" panose="02040503050406030204" charset="0"/>
                    <a:cs typeface="Cambria Math" panose="02040503050406030204" charset="0"/>
                  </a:rPr>
                  <a:t>方案数</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假设当前线段的并集是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𝐿</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𝑅</m:t>
                    </m:r>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，那么使得并集扩大的线段称之为关键线段，那么对于所有非关键线段，就必须要在某一条关键线段加入后再加入，这是一个类似的树形结构，图如下</a:t>
                </a:r>
                <a:r>
                  <a:rPr lang="zh-CN" altLang="en-US">
                    <a:latin typeface="Cambria Math" panose="02040503050406030204" charset="0"/>
                    <a:cs typeface="Cambria Math" panose="02040503050406030204" charset="0"/>
                  </a:rPr>
                  <a:t>所示：</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726440" y="619760"/>
                <a:ext cx="10627360" cy="5557520"/>
              </a:xfrm>
              <a:blipFill rotWithShape="1">
                <a:blip r:embed="rId1"/>
                <a:stretch>
                  <a:fillRect t="-366" b="-555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38175" y="679450"/>
                <a:ext cx="7014210" cy="5788660"/>
              </a:xfrm>
            </p:spPr>
            <p:txBody>
              <a:bodyPr/>
              <a:p>
                <a:r>
                  <a:rPr lang="zh-CN" altLang="en-US"/>
                  <a:t>这是一个类似与树上拓扑序的问题，答案只与非叶子节点的</a:t>
                </a:r>
                <a:r>
                  <a:rPr lang="en-US" altLang="zh-CN"/>
                  <a:t> </a:t>
                </a:r>
                <a14:m>
                  <m:oMath xmlns:m="http://schemas.openxmlformats.org/officeDocument/2006/math">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𝑠𝑧</m:t>
                        </m:r>
                      </m:den>
                    </m:f>
                  </m:oMath>
                </a14:m>
                <a:r>
                  <a:rPr lang="en-US" altLang="zh-CN"/>
                  <a:t> </a:t>
                </a:r>
                <a:r>
                  <a:rPr lang="zh-CN" altLang="en-US"/>
                  <a:t>和总点数的阶乘</a:t>
                </a:r>
                <a:r>
                  <a:rPr lang="zh-CN" altLang="en-US"/>
                  <a:t>有关</a:t>
                </a:r>
                <a:endParaRPr lang="zh-CN" altLang="en-US"/>
              </a:p>
              <a:p>
                <a:r>
                  <a:rPr lang="zh-CN" altLang="en-US"/>
                  <a:t>因此，我们恰好只需要记录</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en-US" altLang="zh-CN"/>
                  <a:t> </a:t>
                </a:r>
                <a:r>
                  <a:rPr lang="zh-CN" altLang="en-US"/>
                  <a:t>状态</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𝑓</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𝑟</m:t>
                        </m:r>
                      </m:sub>
                    </m:sSub>
                  </m:oMath>
                </a14:m>
                <a:r>
                  <a:rPr lang="en-US" altLang="zh-CN"/>
                  <a:t> </a:t>
                </a:r>
                <a:r>
                  <a:rPr lang="zh-CN" altLang="en-US"/>
                  <a:t>表示加入某条关键线段后线段并被扩张至</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𝑟</m:t>
                    </m:r>
                    <m:r>
                      <a:rPr lang="en-US" altLang="zh-CN" i="1">
                        <a:latin typeface="Cambria Math" panose="02040503050406030204" charset="0"/>
                        <a:cs typeface="Cambria Math" panose="02040503050406030204" charset="0"/>
                      </a:rPr>
                      <m:t>]</m:t>
                    </m:r>
                  </m:oMath>
                </a14:m>
                <a:r>
                  <a:rPr lang="en-US" altLang="zh-CN"/>
                  <a:t> </a:t>
                </a:r>
                <a:r>
                  <a:rPr lang="zh-CN" altLang="en-US"/>
                  <a:t>的方案数，那么枚举关键线段再加上二维前缀和的优化后便可以让转移复杂度做到</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2</m:t>
                        </m:r>
                      </m:sup>
                    </m:sSup>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a:t>
                </a:r>
                <a:endParaRPr lang="zh-CN" altLang="en-US"/>
              </a:p>
              <a:p>
                <a:endParaRPr lang="zh-CN" altLang="en-US"/>
              </a:p>
              <a:p>
                <a:endParaRPr lang="zh-CN" altLang="en-US"/>
              </a:p>
              <a:p>
                <a:endParaRPr lang="zh-CN" altLang="en-US"/>
              </a:p>
              <a:p>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xfrm>
                <a:off x="638175" y="679450"/>
                <a:ext cx="7014210" cy="5788660"/>
              </a:xfrm>
              <a:blipFill rotWithShape="1">
                <a:blip r:embed="rId1"/>
                <a:stretch>
                  <a:fillRect t="-351"/>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7994015" y="104140"/>
            <a:ext cx="3829685" cy="3097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a:t>
            </a:r>
            <a:r>
              <a:rPr lang="en-US" altLang="zh-CN"/>
              <a:t>2020-2021 </a:t>
            </a:r>
            <a:r>
              <a:rPr lang="zh-CN" altLang="en-US"/>
              <a:t>集训队作业」</a:t>
            </a:r>
            <a:r>
              <a:rPr lang="en-US" altLang="zh-CN"/>
              <a:t>Communication Network</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t>给定树</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，其中</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oMath>
                </a14:m>
                <a:r>
                  <a:rPr lang="zh-CN" altLang="en-US">
                    <a:latin typeface="Cambria Math" panose="02040503050406030204" charset="0"/>
                    <a:cs typeface="Cambria Math" panose="02040503050406030204" charset="0"/>
                  </a:rPr>
                  <a:t>。假设点集</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𝑉</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能构成的生成树集合为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𝑆</m:t>
                    </m:r>
                  </m:oMath>
                </a14:m>
                <a:r>
                  <a:rPr lang="zh-CN" altLang="en-US">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你需要求：</a:t>
                </a:r>
                <a:endParaRPr lang="zh-CN" altLang="en-US">
                  <a:latin typeface="Cambria Math" panose="02040503050406030204" charset="0"/>
                  <a:cs typeface="Cambria Math" panose="0204050305040603020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𝑆</m:t>
                          </m:r>
                        </m:sub>
                        <m:sup/>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2</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sup>
                          </m:sSup>
                        </m:e>
                      </m:nary>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𝑚𝑜𝑑</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998244353</m:t>
                      </m:r>
                    </m:oMath>
                  </m:oMathPara>
                </a14:m>
                <a:endParaRPr lang="en-US" altLang="zh-CN" i="1">
                  <a:latin typeface="Cambria Math" panose="02040503050406030204" charset="0"/>
                  <a:cs typeface="Cambria Math" panose="02040503050406030204" charset="0"/>
                </a:endParaRPr>
              </a:p>
              <a:p>
                <a:pPr marL="0" indent="0">
                  <a:buNone/>
                </a:pPr>
                <a:r>
                  <a:rPr lang="zh-CN" altLang="en-US">
                    <a:latin typeface="Cambria Math" panose="02040503050406030204" charset="0"/>
                    <a:cs typeface="Cambria Math" panose="02040503050406030204" charset="0"/>
                  </a:rPr>
                  <a:t>数据范围：</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10</m:t>
                        </m:r>
                      </m:e>
                      <m:sup>
                        <m:r>
                          <a:rPr lang="en-US" altLang="zh-CN" i="1">
                            <a:latin typeface="Cambria Math" panose="02040503050406030204" charset="0"/>
                            <a:cs typeface="Cambria Math" panose="02040503050406030204" charset="0"/>
                          </a:rPr>
                          <m:t>6</m:t>
                        </m:r>
                      </m:sup>
                    </m:sSup>
                  </m:oMath>
                </a14:m>
                <a:endParaRPr lang="en-US" altLang="zh-CN">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52" b="7"/>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81990" y="589915"/>
                <a:ext cx="10671810" cy="5587365"/>
              </a:xfrm>
            </p:spPr>
            <p:txBody>
              <a:bodyPr/>
              <a:p>
                <a14:m>
                  <m:oMath xmlns:m="http://schemas.openxmlformats.org/officeDocument/2006/math">
                    <m:r>
                      <a:rPr lang="en-US" altLang="zh-CN">
                        <a:latin typeface="Cambria Math" panose="02040503050406030204" charset="0"/>
                        <a:cs typeface="Cambria Math" panose="02040503050406030204" charset="0"/>
                      </a:rPr>
                      <m:t>鉴定为组合意义集大成之作</m:t>
                    </m:r>
                  </m:oMath>
                </a14:m>
                <a:endParaRPr lang="en-US" altLang="zh-CN">
                  <a:latin typeface="Cambria Math" panose="02040503050406030204" charset="0"/>
                  <a:cs typeface="Cambria Math" panose="02040503050406030204" charset="0"/>
                </a:endParaRPr>
              </a:p>
              <a:p>
                <a:r>
                  <a:rPr lang="zh-CN" altLang="en-US"/>
                  <a:t>先考虑假设我钦定</a:t>
                </a:r>
                <a:r>
                  <a:rPr lang="en-US" altLang="zh-CN"/>
                  <a:t> </a:t>
                </a:r>
                <a14:m>
                  <m:oMath xmlns:m="http://schemas.openxmlformats.org/officeDocument/2006/math">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2</m:t>
                    </m:r>
                  </m:oMath>
                </a14:m>
                <a:r>
                  <a:rPr lang="en-US" altLang="zh-CN"/>
                  <a:t> </a:t>
                </a:r>
                <a:r>
                  <a:rPr lang="zh-CN" altLang="en-US"/>
                  <a:t>一定包含一个边集</a:t>
                </a:r>
                <a:r>
                  <a:rPr lang="en-US" altLang="zh-CN"/>
                  <a:t> </a:t>
                </a:r>
                <a14:m>
                  <m:oMath xmlns:m="http://schemas.openxmlformats.org/officeDocument/2006/math">
                    <m:r>
                      <a:rPr lang="en-US" altLang="zh-CN" i="1">
                        <a:latin typeface="Cambria Math" panose="02040503050406030204" charset="0"/>
                        <a:cs typeface="Cambria Math" panose="02040503050406030204" charset="0"/>
                      </a:rPr>
                      <m:t>𝐸</m:t>
                    </m:r>
                  </m:oMath>
                </a14:m>
                <a:r>
                  <a:rPr lang="zh-CN" altLang="en-US">
                    <a:latin typeface="Cambria Math" panose="02040503050406030204" charset="0"/>
                    <a:cs typeface="Cambria Math" panose="02040503050406030204" charset="0"/>
                  </a:rPr>
                  <a:t>，怎么计算合法的</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2</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数量</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注意到根据经典的结论，答案是</a:t>
                </a:r>
                <a:r>
                  <a:rPr lang="en-US" altLang="zh-CN">
                    <a:latin typeface="Cambria Math" panose="02040503050406030204" charset="0"/>
                    <a:cs typeface="Cambria Math" panose="02040503050406030204" charset="0"/>
                  </a:rPr>
                  <a:t>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p>
                    </m:sSup>
                    <m:r>
                      <a:rPr lang="en-US" altLang="zh-CN" i="1">
                        <a:latin typeface="Cambria Math" panose="02040503050406030204" charset="0"/>
                        <a:cs typeface="Cambria Math" panose="02040503050406030204" charset="0"/>
                      </a:rPr>
                      <m:t>×</m:t>
                    </m:r>
                    <m:nary>
                      <m:naryPr>
                        <m:chr m:val="∏"/>
                        <m:limLoc m:val="undOvr"/>
                        <m:subHide m:val="on"/>
                        <m:supHide m:val="on"/>
                        <m:ctrlPr>
                          <a:rPr lang="en-US" altLang="zh-CN" i="1">
                            <a:latin typeface="Cambria Math" panose="02040503050406030204" charset="0"/>
                            <a:cs typeface="Cambria Math" panose="02040503050406030204" charset="0"/>
                          </a:rPr>
                        </m:ctrlPr>
                      </m:naryPr>
                      <m:sub/>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𝑠𝑧</m:t>
                            </m:r>
                          </m:e>
                          <m:sub>
                            <m:r>
                              <a:rPr lang="en-US" altLang="zh-CN" i="1">
                                <a:latin typeface="Cambria Math" panose="02040503050406030204" charset="0"/>
                                <a:cs typeface="Cambria Math" panose="02040503050406030204" charset="0"/>
                              </a:rPr>
                              <m:t>𝑖</m:t>
                            </m:r>
                          </m:sub>
                        </m:sSub>
                      </m:e>
                    </m:nary>
                  </m:oMath>
                </a14:m>
                <a:r>
                  <a:rPr lang="zh-CN" altLang="en-US">
                    <a:latin typeface="Cambria Math" panose="02040503050406030204" charset="0"/>
                    <a:cs typeface="Cambria Math" panose="02040503050406030204" charset="0"/>
                  </a:rPr>
                  <a:t>，其中</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𝑘</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是</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𝐸</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构成的连通块数量，</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𝑠𝑧</m:t>
                        </m:r>
                      </m:e>
                      <m:sub>
                        <m:r>
                          <a:rPr lang="en-US" altLang="zh-CN" i="1">
                            <a:latin typeface="Cambria Math" panose="02040503050406030204" charset="0"/>
                            <a:cs typeface="Cambria Math" panose="02040503050406030204" charset="0"/>
                          </a:rPr>
                          <m:t>𝑖</m:t>
                        </m:r>
                      </m:sub>
                    </m:sSub>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是第</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个连通块的</a:t>
                </a:r>
                <a:r>
                  <a:rPr lang="zh-CN" altLang="en-US">
                    <a:latin typeface="Cambria Math" panose="02040503050406030204" charset="0"/>
                    <a:cs typeface="Cambria Math" panose="02040503050406030204" charset="0"/>
                  </a:rPr>
                  <a:t>大小</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再考虑另一个比较显然的事实，</a:t>
                </a:r>
                <a:r>
                  <a:rPr lang="zh-CN" altLang="en-US">
                    <a:latin typeface="Cambria Math" panose="02040503050406030204" charset="0"/>
                    <a:cs typeface="Cambria Math" panose="02040503050406030204" charset="0"/>
                  </a:rPr>
                  <a:t>即：</a:t>
                </a:r>
                <a:endParaRPr lang="zh-CN" altLang="en-US">
                  <a:latin typeface="Cambria Math" panose="02040503050406030204" charset="0"/>
                  <a:cs typeface="Cambria Math" panose="02040503050406030204" charset="0"/>
                </a:endParaRPr>
              </a:p>
              <a:p>
                <a:pPr marL="0" indent="45720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2</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𝑇</m:t>
                          </m:r>
                        </m:sub>
                        <m:sup/>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e>
                      </m:nary>
                    </m:oMath>
                  </m:oMathPara>
                </a14:m>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81990" y="589915"/>
                <a:ext cx="10671810" cy="5587365"/>
              </a:xfr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89610" y="1058545"/>
                <a:ext cx="10664190" cy="5118735"/>
              </a:xfrm>
            </p:spPr>
            <p:txBody>
              <a:bodyPr/>
              <a:p>
                <a:r>
                  <a:rPr lang="zh-CN" altLang="en-US"/>
                  <a:t>因此，我们可以考虑枚举一些</a:t>
                </a:r>
                <a:r>
                  <a:rPr lang="en-US" altLang="zh-CN"/>
                  <a:t> </a:t>
                </a:r>
                <a14:m>
                  <m:oMath xmlns:m="http://schemas.openxmlformats.org/officeDocument/2006/math">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2</m:t>
                    </m:r>
                  </m:oMath>
                </a14:m>
                <a:r>
                  <a:rPr lang="en-US" altLang="zh-CN"/>
                  <a:t> </a:t>
                </a:r>
                <a:r>
                  <a:rPr lang="zh-CN" altLang="en-US"/>
                  <a:t>必然包含的边并</a:t>
                </a:r>
                <a:r>
                  <a:rPr lang="zh-CN" altLang="en-US"/>
                  <a:t>进行计算</a:t>
                </a:r>
                <a:endParaRPr lang="zh-CN" altLang="en-US"/>
              </a:p>
              <a:p>
                <a:r>
                  <a:rPr lang="zh-CN" altLang="en-US"/>
                  <a:t>计算的系数包含两部分，一是</a:t>
                </a:r>
                <a:r>
                  <a:rPr lang="en-US" altLang="zh-CN"/>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，二是</a:t>
                </a:r>
                <a:r>
                  <a:rPr lang="en-US" altLang="zh-CN">
                    <a:latin typeface="Cambria Math" panose="02040503050406030204" charset="0"/>
                    <a:cs typeface="Cambria Math" panose="02040503050406030204" charset="0"/>
                  </a:rPr>
                  <a:t>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p>
                    </m:sSup>
                    <m:r>
                      <a:rPr lang="en-US" altLang="zh-CN" i="1">
                        <a:latin typeface="Cambria Math" panose="02040503050406030204" charset="0"/>
                        <a:cs typeface="Cambria Math" panose="02040503050406030204" charset="0"/>
                      </a:rPr>
                      <m:t>×</m:t>
                    </m:r>
                    <m:nary>
                      <m:naryPr>
                        <m:chr m:val="∏"/>
                        <m:limLoc m:val="undOvr"/>
                        <m:subHide m:val="on"/>
                        <m:supHide m:val="on"/>
                        <m:ctrlPr>
                          <a:rPr lang="en-US" altLang="zh-CN" i="1">
                            <a:latin typeface="Cambria Math" panose="02040503050406030204" charset="0"/>
                            <a:cs typeface="Cambria Math" panose="02040503050406030204" charset="0"/>
                          </a:rPr>
                        </m:ctrlPr>
                      </m:naryPr>
                      <m:sub/>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𝑠𝑧</m:t>
                            </m:r>
                          </m:e>
                          <m:sub>
                            <m:r>
                              <a:rPr lang="en-US" altLang="zh-CN" i="1">
                                <a:latin typeface="Cambria Math" panose="02040503050406030204" charset="0"/>
                                <a:cs typeface="Cambria Math" panose="02040503050406030204" charset="0"/>
                              </a:rPr>
                              <m:t>𝑖</m:t>
                            </m:r>
                          </m:sub>
                        </m:sSub>
                      </m:e>
                    </m:nary>
                  </m:oMath>
                </a14:m>
                <a:r>
                  <a:rPr lang="zh-CN" altLang="en-US">
                    <a:latin typeface="Cambria Math" panose="02040503050406030204" charset="0"/>
                    <a:cs typeface="Cambria Math" panose="02040503050406030204" charset="0"/>
                  </a:rPr>
                  <a:t>，可以考虑将第一部分视作选择</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𝑉</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中的某一条边作为关键边，第二部分乘上</a:t>
                </a:r>
                <a:r>
                  <a:rPr lang="en-US" altLang="zh-CN">
                    <a:latin typeface="Cambria Math" panose="02040503050406030204" charset="0"/>
                    <a:cs typeface="Cambria Math" panose="02040503050406030204" charset="0"/>
                  </a:rPr>
                  <a:t>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2</m:t>
                        </m:r>
                      </m:sup>
                    </m:sSup>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后可以视作是在每个连通块选择一个</a:t>
                </a:r>
                <a:r>
                  <a:rPr lang="zh-CN" altLang="en-US">
                    <a:latin typeface="Cambria Math" panose="02040503050406030204" charset="0"/>
                    <a:cs typeface="Cambria Math" panose="02040503050406030204" charset="0"/>
                  </a:rPr>
                  <a:t>关键点并乘上</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𝑛</m:t>
                    </m:r>
                  </m:oMath>
                </a14:m>
                <a:endParaRPr lang="en-US" altLang="zh-CN" i="1">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因此我们可以考虑树形</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zh-CN" altLang="en-US">
                    <a:latin typeface="Cambria Math" panose="02040503050406030204" charset="0"/>
                    <a:cs typeface="Cambria Math" panose="02040503050406030204" charset="0"/>
                  </a:rPr>
                  <a:t>，并设计状态</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𝑓</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zh-CN" altLang="en-US">
                    <a:latin typeface="Cambria Math" panose="02040503050406030204" charset="0"/>
                    <a:cs typeface="Cambria Math" panose="02040503050406030204" charset="0"/>
                  </a:rPr>
                  <a:t>，表示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子树的内部，</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所在的连通块是否钦定了关键点，以及</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𝑖</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子树内是否已经钦定了关键</a:t>
                </a:r>
                <a:r>
                  <a:rPr lang="zh-CN" altLang="en-US">
                    <a:latin typeface="Cambria Math" panose="02040503050406030204" charset="0"/>
                    <a:cs typeface="Cambria Math" panose="02040503050406030204" charset="0"/>
                  </a:rPr>
                  <a:t>边</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总时空复杂度</a:t>
                </a:r>
                <a:r>
                  <a:rPr lang="zh-CN" altLang="en-US">
                    <a:latin typeface="Cambria Math" panose="02040503050406030204" charset="0"/>
                    <a:cs typeface="Cambria Math" panose="02040503050406030204" charset="0"/>
                  </a:rPr>
                  <a:t>均为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oMath>
                </a14:m>
                <a:endParaRPr lang="zh-CN" altLang="en-US" i="1">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89610" y="1058545"/>
                <a:ext cx="10664190" cy="5118735"/>
              </a:xfrm>
              <a:blipFill rotWithShape="1">
                <a:blip r:embed="rId1"/>
                <a:stretch>
                  <a:fillRect t="-39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CF2190E Median Permutation</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t>对于一个长度大于</a:t>
                </a:r>
                <a:r>
                  <a:rPr lang="en-US" altLang="zh-CN"/>
                  <a:t>2</a:t>
                </a:r>
                <a:r>
                  <a:rPr lang="zh-CN" altLang="en-US"/>
                  <a:t>的排列</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𝑞</m:t>
                    </m:r>
                  </m:oMath>
                </a14:m>
                <a:r>
                  <a:rPr lang="zh-CN" altLang="en-US">
                    <a:latin typeface="Cambria Math" panose="02040503050406030204" charset="0"/>
                    <a:cs typeface="Cambria Math" panose="02040503050406030204" charset="0"/>
                  </a:rPr>
                  <a:t>，它对应一个唯一的</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𝑏</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序列，其中</a:t>
                </a: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𝑚𝑒𝑑</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a:t>
                </a:r>
                <a14:m>
                  <m:oMath xmlns:m="http://schemas.openxmlformats.org/officeDocument/2006/math">
                    <m:r>
                      <m:rPr>
                        <m:sty m:val="p"/>
                      </m:rPr>
                      <a:rPr lang="en-US" altLang="zh-CN">
                        <a:latin typeface="Cambria Math" panose="02040503050406030204" charset="0"/>
                        <a:cs typeface="Cambria Math" panose="02040503050406030204" charset="0"/>
                      </a:rPr>
                      <m:t>med</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x</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y</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z</m:t>
                    </m:r>
                    <m:r>
                      <a:rPr lang="en-US" altLang="zh-CN">
                        <a:latin typeface="Cambria Math" panose="02040503050406030204" charset="0"/>
                        <a:cs typeface="Cambria Math" panose="02040503050406030204" charset="0"/>
                      </a:rPr>
                      <m:t>)</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表示</a:t>
                </a:r>
                <a14:m>
                  <m:oMath xmlns:m="http://schemas.openxmlformats.org/officeDocument/2006/math">
                    <m:r>
                      <a:rPr lang="en-US" altLang="zh-CN">
                        <a:latin typeface="Cambria Math" panose="02040503050406030204" charset="0"/>
                        <a:cs typeface="Cambria Math" panose="02040503050406030204" charset="0"/>
                      </a:rPr>
                      <m:t> {</m:t>
                    </m:r>
                    <m:r>
                      <m:rPr>
                        <m:sty m:val="p"/>
                      </m:rPr>
                      <a:rPr lang="en-US" altLang="zh-CN">
                        <a:latin typeface="Cambria Math" panose="02040503050406030204" charset="0"/>
                        <a:cs typeface="Cambria Math" panose="02040503050406030204" charset="0"/>
                      </a:rPr>
                      <m:t>x</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y</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z</m:t>
                    </m:r>
                    <m:r>
                      <a:rPr lang="en-US" altLang="zh-CN">
                        <a:latin typeface="Cambria Math" panose="02040503050406030204" charset="0"/>
                        <a:cs typeface="Cambria Math" panose="02040503050406030204" charset="0"/>
                      </a:rPr>
                      <m:t>} </m:t>
                    </m:r>
                  </m:oMath>
                </a14:m>
                <a:r>
                  <a:rPr lang="zh-CN" altLang="en-US">
                    <a:latin typeface="Cambria Math" panose="02040503050406030204" charset="0"/>
                    <a:cs typeface="Cambria Math" panose="02040503050406030204" charset="0"/>
                  </a:rPr>
                  <a:t>中的第二小元素。</a:t>
                </a:r>
                <a:endParaRPr lang="zh-CN" altLang="en-US">
                  <a:latin typeface="Cambria Math" panose="02040503050406030204" charset="0"/>
                  <a:cs typeface="Cambria Math" panose="02040503050406030204" charset="0"/>
                </a:endParaRPr>
              </a:p>
              <a:p>
                <a:pPr marL="0" indent="0">
                  <a:buNone/>
                </a:pPr>
                <a:r>
                  <a:rPr lang="zh-CN" altLang="en-US">
                    <a:latin typeface="Cambria Math" panose="02040503050406030204" charset="0"/>
                    <a:cs typeface="Cambria Math" panose="02040503050406030204" charset="0"/>
                  </a:rPr>
                  <a:t>对于一个排列我们称之为好的排列，当且仅当它对应的</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𝑏</m:t>
                    </m:r>
                  </m:oMath>
                </a14:m>
                <a:r>
                  <a:rPr lang="en-US" altLang="zh-CN" i="1">
                    <a:latin typeface="Cambria Math" panose="02040503050406030204" charset="0"/>
                    <a:cs typeface="Cambria Math" panose="02040503050406030204" charset="0"/>
                  </a:rPr>
                  <a:t> </a:t>
                </a:r>
                <a:r>
                  <a:rPr lang="zh-CN" altLang="en-US">
                    <a:latin typeface="微软雅黑" panose="020B0503020204020204" charset="-122"/>
                    <a:ea typeface="微软雅黑" panose="020B0503020204020204" charset="-122"/>
                    <a:cs typeface="Cambria Math" panose="02040503050406030204" charset="0"/>
                  </a:rPr>
                  <a:t>序列没有重复出现的</a:t>
                </a:r>
                <a:r>
                  <a:rPr lang="zh-CN" altLang="en-US">
                    <a:latin typeface="微软雅黑" panose="020B0503020204020204" charset="-122"/>
                    <a:ea typeface="微软雅黑" panose="020B0503020204020204" charset="-122"/>
                    <a:cs typeface="Cambria Math" panose="02040503050406030204" charset="0"/>
                  </a:rPr>
                  <a:t>元素。</a:t>
                </a:r>
                <a:endParaRPr lang="zh-CN" altLang="en-US">
                  <a:latin typeface="微软雅黑" panose="020B0503020204020204" charset="-122"/>
                  <a:ea typeface="微软雅黑" panose="020B0503020204020204" charset="-122"/>
                  <a:cs typeface="Cambria Math" panose="02040503050406030204" charset="0"/>
                </a:endParaRPr>
              </a:p>
              <a:p>
                <a:pPr marL="0" indent="0">
                  <a:buNone/>
                </a:pPr>
                <a:r>
                  <a:rPr lang="zh-CN" altLang="en-US">
                    <a:latin typeface="微软雅黑" panose="020B0503020204020204" charset="-122"/>
                    <a:ea typeface="微软雅黑" panose="020B0503020204020204" charset="-122"/>
                    <a:cs typeface="Cambria Math" panose="02040503050406030204" charset="0"/>
                  </a:rPr>
                  <a:t>现在给你一个填了部分元素的序列</a:t>
                </a:r>
                <a:r>
                  <a:rPr lang="en-US" altLang="zh-CN">
                    <a:latin typeface="微软雅黑" panose="020B0503020204020204" charset="-122"/>
                    <a:ea typeface="微软雅黑" panose="020B0503020204020204" charset="-122"/>
                    <a:cs typeface="Cambria Math" panose="02040503050406030204" charset="0"/>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𝑎</m:t>
                    </m:r>
                  </m:oMath>
                </a14:m>
                <a:r>
                  <a:rPr lang="en-US" altLang="zh-CN">
                    <a:latin typeface="微软雅黑" panose="020B0503020204020204" charset="-122"/>
                    <a:ea typeface="微软雅黑" panose="020B0503020204020204" charset="-122"/>
                    <a:cs typeface="Cambria Math" panose="02040503050406030204" charset="0"/>
                  </a:rPr>
                  <a:t> </a:t>
                </a:r>
                <a:r>
                  <a:rPr lang="zh-CN" altLang="en-US">
                    <a:latin typeface="微软雅黑" panose="020B0503020204020204" charset="-122"/>
                    <a:ea typeface="微软雅黑" panose="020B0503020204020204" charset="-122"/>
                    <a:cs typeface="Cambria Math" panose="02040503050406030204" charset="0"/>
                  </a:rPr>
                  <a:t>并保证</a:t>
                </a:r>
                <a:r>
                  <a:rPr lang="en-US" altLang="zh-CN">
                    <a:latin typeface="微软雅黑" panose="020B0503020204020204" charset="-122"/>
                    <a:ea typeface="微软雅黑" panose="020B0503020204020204" charset="-122"/>
                    <a:cs typeface="Cambria Math" panose="02040503050406030204" charset="0"/>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1</m:t>
                    </m:r>
                  </m:oMath>
                </a14:m>
                <a:r>
                  <a:rPr lang="en-US" altLang="zh-CN">
                    <a:latin typeface="微软雅黑" panose="020B0503020204020204" charset="-122"/>
                    <a:ea typeface="微软雅黑" panose="020B0503020204020204" charset="-122"/>
                    <a:cs typeface="Cambria Math" panose="02040503050406030204" charset="0"/>
                  </a:rPr>
                  <a:t> </a:t>
                </a:r>
                <a:r>
                  <a:rPr lang="zh-CN" altLang="en-US">
                    <a:latin typeface="微软雅黑" panose="020B0503020204020204" charset="-122"/>
                    <a:ea typeface="微软雅黑" panose="020B0503020204020204" charset="-122"/>
                    <a:cs typeface="Cambria Math" panose="02040503050406030204" charset="0"/>
                  </a:rPr>
                  <a:t>和</a:t>
                </a:r>
                <a:r>
                  <a:rPr lang="en-US" altLang="zh-CN">
                    <a:latin typeface="微软雅黑" panose="020B0503020204020204" charset="-122"/>
                    <a:ea typeface="微软雅黑" panose="020B0503020204020204" charset="-122"/>
                    <a:cs typeface="Cambria Math" panose="02040503050406030204" charset="0"/>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𝑛</m:t>
                    </m:r>
                  </m:oMath>
                </a14:m>
                <a:r>
                  <a:rPr lang="en-US" altLang="zh-CN">
                    <a:latin typeface="微软雅黑" panose="020B0503020204020204" charset="-122"/>
                    <a:ea typeface="微软雅黑" panose="020B0503020204020204" charset="-122"/>
                    <a:cs typeface="Cambria Math" panose="02040503050406030204" charset="0"/>
                  </a:rPr>
                  <a:t> </a:t>
                </a:r>
                <a:r>
                  <a:rPr lang="zh-CN" altLang="en-US">
                    <a:latin typeface="微软雅黑" panose="020B0503020204020204" charset="-122"/>
                    <a:ea typeface="微软雅黑" panose="020B0503020204020204" charset="-122"/>
                    <a:cs typeface="Cambria Math" panose="02040503050406030204" charset="0"/>
                  </a:rPr>
                  <a:t>都在里面出现过，现要你求出有多少种把</a:t>
                </a:r>
                <a:r>
                  <a:rPr lang="en-US" altLang="zh-CN">
                    <a:latin typeface="微软雅黑" panose="020B0503020204020204" charset="-122"/>
                    <a:ea typeface="微软雅黑" panose="020B0503020204020204" charset="-122"/>
                    <a:cs typeface="Cambria Math" panose="02040503050406030204" charset="0"/>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𝑎</m:t>
                    </m:r>
                  </m:oMath>
                </a14:m>
                <a:r>
                  <a:rPr lang="en-US" altLang="zh-CN" i="1">
                    <a:latin typeface="Cambria Math" panose="02040503050406030204" charset="0"/>
                    <a:ea typeface="微软雅黑" panose="020B0503020204020204" charset="-122"/>
                    <a:cs typeface="Cambria Math" panose="02040503050406030204" charset="0"/>
                  </a:rPr>
                  <a:t> </a:t>
                </a:r>
                <a:r>
                  <a:rPr lang="zh-CN" altLang="en-US">
                    <a:latin typeface="Cambria Math" panose="02040503050406030204" charset="0"/>
                    <a:ea typeface="微软雅黑" panose="020B0503020204020204" charset="-122"/>
                    <a:cs typeface="Cambria Math" panose="02040503050406030204" charset="0"/>
                  </a:rPr>
                  <a:t>补全成为一个好排列的方案数对</a:t>
                </a:r>
                <a:r>
                  <a:rPr lang="en-US" altLang="zh-CN">
                    <a:latin typeface="Cambria Math" panose="02040503050406030204" charset="0"/>
                    <a:ea typeface="微软雅黑" panose="020B0503020204020204" charset="-122"/>
                    <a:cs typeface="Cambria Math" panose="02040503050406030204" charset="0"/>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998244353</m:t>
                    </m:r>
                  </m:oMath>
                </a14:m>
                <a:r>
                  <a:rPr lang="en-US" altLang="zh-CN">
                    <a:latin typeface="Cambria Math" panose="02040503050406030204" charset="0"/>
                    <a:ea typeface="微软雅黑" panose="020B0503020204020204" charset="-122"/>
                    <a:cs typeface="Cambria Math" panose="02040503050406030204" charset="0"/>
                  </a:rPr>
                  <a:t> </a:t>
                </a:r>
                <a:r>
                  <a:rPr lang="zh-CN" altLang="en-US">
                    <a:latin typeface="Cambria Math" panose="02040503050406030204" charset="0"/>
                    <a:ea typeface="微软雅黑" panose="020B0503020204020204" charset="-122"/>
                    <a:cs typeface="Cambria Math" panose="02040503050406030204" charset="0"/>
                  </a:rPr>
                  <a:t>取模后的</a:t>
                </a:r>
                <a:r>
                  <a:rPr lang="zh-CN" altLang="en-US">
                    <a:latin typeface="Cambria Math" panose="02040503050406030204" charset="0"/>
                    <a:ea typeface="微软雅黑" panose="020B0503020204020204" charset="-122"/>
                    <a:cs typeface="Cambria Math" panose="02040503050406030204" charset="0"/>
                  </a:rPr>
                  <a:t>结果。</a:t>
                </a:r>
                <a:endParaRPr lang="zh-CN" altLang="en-US">
                  <a:latin typeface="Cambria Math" panose="02040503050406030204" charset="0"/>
                  <a:ea typeface="微软雅黑" panose="020B0503020204020204" charset="-122"/>
                  <a:cs typeface="Cambria Math" panose="02040503050406030204" charset="0"/>
                </a:endParaRPr>
              </a:p>
              <a:p>
                <a:pPr marL="0" indent="0">
                  <a:buNone/>
                </a:pPr>
                <a:r>
                  <a:rPr lang="zh-CN" altLang="en-US">
                    <a:latin typeface="Cambria Math" panose="02040503050406030204" charset="0"/>
                    <a:ea typeface="微软雅黑" panose="020B0503020204020204" charset="-122"/>
                    <a:cs typeface="Cambria Math" panose="02040503050406030204" charset="0"/>
                  </a:rPr>
                  <a:t>数据范围</a:t>
                </a:r>
                <a:r>
                  <a:rPr lang="en-US" altLang="zh-CN">
                    <a:latin typeface="Cambria Math" panose="02040503050406030204" charset="0"/>
                    <a:ea typeface="微软雅黑" panose="020B0503020204020204" charset="-122"/>
                    <a:cs typeface="Cambria Math" panose="02040503050406030204" charset="0"/>
                  </a:rPr>
                  <a:t> </a:t>
                </a:r>
                <a14:m>
                  <m:oMath xmlns:m="http://schemas.openxmlformats.org/officeDocument/2006/math">
                    <m:r>
                      <a:rPr lang="en-US" altLang="zh-CN" i="1">
                        <a:latin typeface="Cambria Math" panose="02040503050406030204" charset="0"/>
                        <a:ea typeface="微软雅黑" panose="020B0503020204020204" charset="-122"/>
                        <a:cs typeface="Cambria Math" panose="02040503050406030204" charset="0"/>
                      </a:rPr>
                      <m:t>3</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𝑛</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2</m:t>
                    </m:r>
                    <m:r>
                      <a:rPr lang="en-US" altLang="zh-CN" i="1">
                        <a:latin typeface="Cambria Math" panose="02040503050406030204" charset="0"/>
                        <a:ea typeface="MS Mincho" charset="0"/>
                        <a:cs typeface="Cambria Math" panose="02040503050406030204" charset="0"/>
                      </a:rPr>
                      <m:t>×</m:t>
                    </m:r>
                    <m:sSup>
                      <m:sSupPr>
                        <m:ctrlPr>
                          <a:rPr lang="en-US" altLang="zh-CN" i="1">
                            <a:latin typeface="Cambria Math" panose="02040503050406030204" charset="0"/>
                            <a:ea typeface="MS Mincho"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10</m:t>
                        </m:r>
                      </m:e>
                      <m:sup>
                        <m:r>
                          <a:rPr lang="en-US" altLang="zh-CN" i="1">
                            <a:latin typeface="Cambria Math" panose="02040503050406030204" charset="0"/>
                            <a:ea typeface="MS Mincho" charset="0"/>
                            <a:cs typeface="Cambria Math" panose="02040503050406030204" charset="0"/>
                          </a:rPr>
                          <m:t>5</m:t>
                        </m:r>
                      </m:sup>
                    </m:sSup>
                  </m:oMath>
                </a14:m>
                <a:endParaRPr lang="en-US" altLang="zh-CN" i="1">
                  <a:latin typeface="Cambria Math" panose="02040503050406030204" charset="0"/>
                  <a:ea typeface="微软雅黑" panose="020B0503020204020204" charset="-122"/>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67" r="-658" b="7"/>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67385" y="701675"/>
                <a:ext cx="10686415" cy="5922645"/>
              </a:xfrm>
            </p:spPr>
            <p:txBody>
              <a:bodyPr/>
              <a:p>
                <a:r>
                  <a:rPr lang="zh-CN" altLang="en-US"/>
                  <a:t>先考虑一个这种题目的常见套路：对于所有</a:t>
                </a:r>
                <a14:m>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𝑛</m:t>
                    </m:r>
                  </m:oMath>
                </a14:m>
                <a:r>
                  <a:rPr lang="zh-CN" altLang="en-US">
                    <a:latin typeface="Cambria Math" panose="02040503050406030204" charset="0"/>
                    <a:cs typeface="Cambria Math" panose="02040503050406030204" charset="0"/>
                  </a:rPr>
                  <a:t>，把小于</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𝑘</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的视作</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0</m:t>
                    </m:r>
                  </m:oMath>
                </a14:m>
                <a:r>
                  <a:rPr lang="zh-CN" altLang="en-US">
                    <a:latin typeface="Cambria Math" panose="02040503050406030204" charset="0"/>
                    <a:cs typeface="Cambria Math" panose="02040503050406030204" charset="0"/>
                  </a:rPr>
                  <a:t>，大于</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𝑘</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的视作</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1</m:t>
                    </m:r>
                  </m:oMath>
                </a14:m>
                <a:r>
                  <a:rPr lang="zh-CN" altLang="en-US">
                    <a:latin typeface="Cambria Math" panose="02040503050406030204" charset="0"/>
                    <a:cs typeface="Cambria Math" panose="02040503050406030204" charset="0"/>
                  </a:rPr>
                  <a:t>，并进行</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𝑐ℎ𝑒𝑐𝑘</m:t>
                    </m:r>
                  </m:oMath>
                </a14:m>
                <a:r>
                  <a:rPr lang="zh-CN" altLang="en-US">
                    <a:latin typeface="Cambria Math" panose="02040503050406030204" charset="0"/>
                    <a:cs typeface="Cambria Math" panose="02040503050406030204" charset="0"/>
                  </a:rPr>
                  <a:t>。</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下面是人类智慧时刻，考虑如下的</a:t>
                </a:r>
                <a:r>
                  <a:rPr lang="zh-CN" altLang="en-US">
                    <a:latin typeface="Cambria Math" panose="02040503050406030204" charset="0"/>
                    <a:cs typeface="Cambria Math" panose="02040503050406030204" charset="0"/>
                  </a:rPr>
                  <a:t>一张图：</a:t>
                </a:r>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假设红圈表示</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1</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的位置，那么我们有结论：假设从小到大填入数字，那么已经填入的数字在环上一定构成</a:t>
                </a:r>
                <a:r>
                  <a:rPr lang="zh-CN" altLang="en-US">
                    <a:latin typeface="Cambria Math" panose="02040503050406030204" charset="0"/>
                    <a:cs typeface="Cambria Math" panose="02040503050406030204" charset="0"/>
                  </a:rPr>
                  <a:t>一段区间</a:t>
                </a:r>
                <a:endParaRPr lang="zh-CN" altLang="en-US">
                  <a:latin typeface="Cambria Math" panose="02040503050406030204" charset="0"/>
                  <a:cs typeface="Cambria Math" panose="02040503050406030204" charset="0"/>
                </a:endParaRPr>
              </a:p>
              <a:p>
                <a:r>
                  <a:rPr lang="zh-CN" altLang="en-US">
                    <a:latin typeface="Cambria Math" panose="02040503050406030204" charset="0"/>
                    <a:cs typeface="Cambria Math" panose="02040503050406030204" charset="0"/>
                  </a:rPr>
                  <a:t>因此对于相邻两个固定位置的数字，我们可以考虑进行</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zh-CN" altLang="en-US">
                    <a:latin typeface="Cambria Math" panose="02040503050406030204" charset="0"/>
                    <a:cs typeface="Cambria Math" panose="02040503050406030204" charset="0"/>
                  </a:rPr>
                  <a:t>，注意到可能的形态最多两种，因此直接</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𝑑𝑝</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复杂度</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oMath>
                </a14:m>
                <a:endParaRPr lang="zh-CN" altLang="en-US">
                  <a:latin typeface="Cambria Math" panose="02040503050406030204" charset="0"/>
                  <a:cs typeface="Cambria Math" panose="02040503050406030204" charset="0"/>
                </a:endParaRPr>
              </a:p>
              <a:p>
                <a:pPr marL="457200" lvl="1" indent="0">
                  <a:buNone/>
                </a:pPr>
                <a:endParaRPr lang="zh-CN" altLang="en-US">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67385" y="701675"/>
                <a:ext cx="10686415" cy="5922645"/>
              </a:xfrm>
              <a:blipFill rotWithShape="1">
                <a:blip r:embed="rId1"/>
                <a:stretch>
                  <a:fillRect t="-343" b="-2262"/>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4888230" y="2073275"/>
            <a:ext cx="4709795" cy="2466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CF1761F2 Anti-median (Hard Version)</a:t>
            </a:r>
            <a:endParaRPr lang="en-US" altLang="zh-CN"/>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pPr marL="0" indent="0">
                  <a:buNone/>
                </a:pPr>
                <a:r>
                  <a:rPr lang="zh-CN" altLang="en-US"/>
                  <a:t>对于一个排列</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𝑝</m:t>
                    </m:r>
                  </m:oMath>
                </a14:m>
                <a:r>
                  <a:rPr lang="en-US" altLang="zh-CN" i="1">
                    <a:latin typeface="Cambria Math" panose="02040503050406030204" charset="0"/>
                    <a:cs typeface="Cambria Math" panose="02040503050406030204" charset="0"/>
                  </a:rPr>
                  <a:t> </a:t>
                </a:r>
                <a:r>
                  <a:rPr lang="zh-CN" altLang="en-US" i="1">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我们称它是好的，当且仅当对于</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𝑝</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的每个长度</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的奇数区间，都满足如下条件：起处于区间正中央的数不能是区间的</a:t>
                </a:r>
                <a:r>
                  <a:rPr lang="zh-CN" altLang="en-US">
                    <a:latin typeface="Cambria Math" panose="02040503050406030204" charset="0"/>
                    <a:cs typeface="Cambria Math" panose="02040503050406030204" charset="0"/>
                  </a:rPr>
                  <a:t>中位数。</a:t>
                </a:r>
                <a:endParaRPr lang="zh-CN" altLang="en-US">
                  <a:latin typeface="Cambria Math" panose="02040503050406030204" charset="0"/>
                  <a:cs typeface="Cambria Math" panose="02040503050406030204" charset="0"/>
                </a:endParaRPr>
              </a:p>
              <a:p>
                <a:pPr marL="0" indent="0">
                  <a:buNone/>
                </a:pPr>
                <a:endParaRPr lang="zh-CN" altLang="en-US">
                  <a:latin typeface="Cambria Math" panose="02040503050406030204" charset="0"/>
                  <a:cs typeface="Cambria Math" panose="02040503050406030204" charset="0"/>
                </a:endParaRPr>
              </a:p>
              <a:p>
                <a:pPr marL="0" indent="0">
                  <a:buNone/>
                </a:pPr>
                <a:r>
                  <a:rPr lang="zh-CN" altLang="en-US">
                    <a:latin typeface="Cambria Math" panose="02040503050406030204" charset="0"/>
                    <a:cs typeface="Cambria Math" panose="02040503050406030204" charset="0"/>
                  </a:rPr>
                  <a:t>现在存在一个序列</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𝑞</m:t>
                    </m:r>
                  </m:oMath>
                </a14:m>
                <a:r>
                  <a:rPr lang="en-US" altLang="zh-CN" i="1">
                    <a:latin typeface="Cambria Math" panose="02040503050406030204" charset="0"/>
                    <a:cs typeface="Cambria Math" panose="02040503050406030204" charset="0"/>
                  </a:rPr>
                  <a:t> </a:t>
                </a:r>
                <a:r>
                  <a:rPr lang="zh-CN" altLang="en-US" i="1">
                    <a:latin typeface="Cambria Math" panose="02040503050406030204" charset="0"/>
                    <a:cs typeface="Cambria Math" panose="02040503050406030204" charset="0"/>
                  </a:rPr>
                  <a:t>，</a:t>
                </a:r>
                <a:r>
                  <a:rPr lang="zh-CN" altLang="en-US">
                    <a:latin typeface="Cambria Math" panose="02040503050406030204" charset="0"/>
                    <a:cs typeface="Cambria Math" panose="02040503050406030204" charset="0"/>
                  </a:rPr>
                  <a:t>已经填了一些位置，现在要你求出有多少种将</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𝑞</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补全成好排列的方式并返回对</a:t>
                </a:r>
                <a:r>
                  <a:rPr lang="en-US" altLang="zh-CN">
                    <a:latin typeface="Cambria Math" panose="02040503050406030204" charset="0"/>
                    <a:cs typeface="Cambria Math" panose="02040503050406030204" charset="0"/>
                  </a:rPr>
                  <a:t> </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10</m:t>
                        </m:r>
                      </m:e>
                      <m:sup>
                        <m:r>
                          <a:rPr lang="en-US" altLang="zh-CN" i="1">
                            <a:latin typeface="Cambria Math" panose="02040503050406030204" charset="0"/>
                            <a:cs typeface="Cambria Math" panose="02040503050406030204" charset="0"/>
                          </a:rPr>
                          <m:t>9</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7</m:t>
                    </m:r>
                  </m:oMath>
                </a14:m>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取模后的</a:t>
                </a:r>
                <a:r>
                  <a:rPr lang="zh-CN" altLang="en-US">
                    <a:latin typeface="Cambria Math" panose="02040503050406030204" charset="0"/>
                    <a:cs typeface="Cambria Math" panose="02040503050406030204" charset="0"/>
                  </a:rPr>
                  <a:t>结果。</a:t>
                </a:r>
                <a:endParaRPr lang="zh-CN" altLang="en-US">
                  <a:latin typeface="Cambria Math" panose="02040503050406030204" charset="0"/>
                  <a:cs typeface="Cambria Math" panose="02040503050406030204" charset="0"/>
                </a:endParaRPr>
              </a:p>
              <a:p>
                <a:pPr marL="0" indent="0">
                  <a:buNone/>
                </a:pPr>
                <a:endParaRPr lang="en-US" altLang="zh-CN">
                  <a:latin typeface="Cambria Math" panose="02040503050406030204" charset="0"/>
                  <a:cs typeface="Cambria Math" panose="02040503050406030204" charset="0"/>
                </a:endParaRPr>
              </a:p>
              <a:p>
                <a:pPr marL="0" indent="0">
                  <a:buNone/>
                </a:pPr>
                <a:r>
                  <a:rPr lang="zh-CN" altLang="en-US">
                    <a:latin typeface="Cambria Math" panose="02040503050406030204" charset="0"/>
                    <a:cs typeface="Cambria Math" panose="02040503050406030204" charset="0"/>
                  </a:rPr>
                  <a:t>数据范围</a:t>
                </a:r>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a:t>
                </a:r>
                <a:r>
                  <a:rPr lang="en-US" altLang="zh-CN">
                    <a:latin typeface="Cambria Math" panose="02040503050406030204" charset="0"/>
                    <a:cs typeface="Cambria Math" panose="02040503050406030204" charset="0"/>
                  </a:rPr>
                  <a:t> </a:t>
                </a:r>
                <a14:m>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10</m:t>
                        </m:r>
                      </m:e>
                      <m:sup>
                        <m:r>
                          <a:rPr lang="en-US" altLang="zh-CN" i="1">
                            <a:latin typeface="Cambria Math" panose="02040503050406030204" charset="0"/>
                            <a:cs typeface="Cambria Math" panose="02040503050406030204" charset="0"/>
                          </a:rPr>
                          <m:t>6</m:t>
                        </m:r>
                      </m:sup>
                    </m:sSup>
                  </m:oMath>
                </a14:m>
                <a:endParaRPr lang="en-US" altLang="zh-CN">
                  <a:latin typeface="Cambria Math" panose="02040503050406030204" charset="0"/>
                  <a:cs typeface="Cambria Math" panose="020405030504060302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67" b="7"/>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704215" y="619760"/>
            <a:ext cx="10649585" cy="5557520"/>
          </a:xfrm>
        </p:spPr>
        <p:txBody>
          <a:bodyPr/>
          <a:p>
            <a:r>
              <a:rPr lang="zh-CN" altLang="en-US"/>
              <a:t>我们先粗略的手玩一下，可以发现，只针对长度为</a:t>
            </a:r>
            <a:r>
              <a:rPr lang="en-US" altLang="zh-CN"/>
              <a:t> 3 </a:t>
            </a:r>
            <a:r>
              <a:rPr lang="zh-CN" altLang="en-US"/>
              <a:t>的序列，可以得出序列大致是一个一直在拐来拐去的序列，</a:t>
            </a:r>
            <a:r>
              <a:rPr lang="zh-CN" altLang="en-US"/>
              <a:t>如下图：</a:t>
            </a:r>
            <a:endParaRPr lang="zh-CN" altLang="en-US"/>
          </a:p>
          <a:p>
            <a:endParaRPr lang="zh-CN" altLang="en-US"/>
          </a:p>
          <a:p>
            <a:endParaRPr lang="zh-CN" altLang="en-US"/>
          </a:p>
          <a:p>
            <a:endParaRPr lang="zh-CN" altLang="en-US"/>
          </a:p>
          <a:p>
            <a:endParaRPr lang="zh-CN" altLang="en-US"/>
          </a:p>
          <a:p>
            <a:r>
              <a:rPr lang="zh-CN" altLang="en-US"/>
              <a:t>再考虑长度更大时的限制，我们假设偶数位置的数都是谷，那么奇数位置的数都是峰，我们可以知道对于所有偶数位置的数，它必然比旁边两个偶数位置的数中的某一个小，同理对于所有奇数位置的数，它必然比旁边两个奇数位置的数中的某一个</a:t>
            </a:r>
            <a:r>
              <a:rPr lang="zh-CN" altLang="en-US"/>
              <a:t>大</a:t>
            </a:r>
            <a:endParaRPr lang="zh-CN" altLang="en-US"/>
          </a:p>
          <a:p>
            <a:r>
              <a:rPr lang="zh-CN" altLang="en-US"/>
              <a:t>换句话说，在这种情况下，奇数位置先增后减，偶数位置先减后</a:t>
            </a:r>
            <a:r>
              <a:rPr lang="zh-CN" altLang="en-US"/>
              <a:t>增</a:t>
            </a:r>
            <a:endParaRPr lang="zh-CN" altLang="en-US"/>
          </a:p>
        </p:txBody>
      </p:sp>
      <p:pic>
        <p:nvPicPr>
          <p:cNvPr id="4" name="图片 3"/>
          <p:cNvPicPr>
            <a:picLocks noChangeAspect="1"/>
          </p:cNvPicPr>
          <p:nvPr/>
        </p:nvPicPr>
        <p:blipFill>
          <a:blip r:embed="rId1"/>
          <a:stretch>
            <a:fillRect/>
          </a:stretch>
        </p:blipFill>
        <p:spPr>
          <a:xfrm>
            <a:off x="4043045" y="1442085"/>
            <a:ext cx="3972560" cy="19831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29260" y="120015"/>
                <a:ext cx="10828020" cy="6616700"/>
              </a:xfrm>
            </p:spPr>
            <p:txBody>
              <a:bodyPr/>
              <a:p>
                <a:r>
                  <a:rPr lang="zh-CN" altLang="en-US"/>
                  <a:t>不难注意到</a:t>
                </a:r>
                <a:r>
                  <a:rPr lang="en-US" altLang="zh-CN"/>
                  <a:t>(bushi</a:t>
                </a:r>
                <a:r>
                  <a:rPr lang="zh-CN" altLang="en-US"/>
                  <a:t>，以上陈述的条件已然充要。具体的证明是，假如中点是偶数位置，那么它比旁边两个奇数位置都要小，而偶数位置先减后增，因此它必然比超过区间个数一半的数要小，因此它不可能</a:t>
                </a:r>
                <a:r>
                  <a:rPr lang="en-US" altLang="zh-CN"/>
                  <a:t> </a:t>
                </a:r>
                <a:r>
                  <a:rPr lang="zh-CN" altLang="en-US"/>
                  <a:t>是中</a:t>
                </a:r>
                <a:r>
                  <a:rPr lang="zh-CN" altLang="en-US"/>
                  <a:t>位数</a:t>
                </a:r>
                <a:endParaRPr lang="zh-CN" altLang="en-US"/>
              </a:p>
              <a:p>
                <a:r>
                  <a:rPr lang="zh-CN" altLang="en-US"/>
                  <a:t>人类智慧的，我们再掏出上一题的那个图，只不过这次我们加入了一些新的限制，我们这里依然假设偶数位置是</a:t>
                </a:r>
                <a:r>
                  <a:rPr lang="en-US" altLang="zh-CN"/>
                  <a:t>“</a:t>
                </a:r>
                <a:r>
                  <a:rPr lang="zh-CN" altLang="en-US"/>
                  <a:t>谷</a:t>
                </a:r>
                <a:r>
                  <a:rPr lang="en-US" altLang="zh-CN"/>
                  <a:t>”</a:t>
                </a:r>
                <a:r>
                  <a:rPr lang="zh-CN" altLang="en-US"/>
                  <a:t>：</a:t>
                </a:r>
                <a:endParaRPr lang="zh-CN" altLang="en-US"/>
              </a:p>
              <a:p>
                <a:endParaRPr lang="zh-CN" altLang="en-US"/>
              </a:p>
              <a:p>
                <a:endParaRPr lang="zh-CN" altLang="en-US"/>
              </a:p>
              <a:p>
                <a:endParaRPr lang="zh-CN" altLang="en-US"/>
              </a:p>
              <a:p>
                <a:endParaRPr lang="zh-CN" altLang="en-US"/>
              </a:p>
              <a:p>
                <a:r>
                  <a:rPr lang="zh-CN" altLang="en-US"/>
                  <a:t>这里棕色的有向边表示谁比谁小，黑色和红色的定义与上一题相同，那么我们可以考虑将</a:t>
                </a:r>
                <a:r>
                  <a:rPr lang="en-US" altLang="zh-CN"/>
                  <a:t> </a:t>
                </a:r>
                <a14:m>
                  <m:oMath xmlns:m="http://schemas.openxmlformats.org/officeDocument/2006/math">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4</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a14:m>
                <a:r>
                  <a:rPr lang="en-US" altLang="zh-CN"/>
                  <a:t> </a:t>
                </a:r>
                <a:r>
                  <a:rPr lang="zh-CN" altLang="en-US"/>
                  <a:t>每次填在左侧或右侧，假设左侧填了</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𝑥</m:t>
                    </m:r>
                  </m:oMath>
                </a14:m>
                <a:r>
                  <a:rPr lang="en-US" altLang="zh-CN"/>
                  <a:t> </a:t>
                </a:r>
                <a:r>
                  <a:rPr lang="zh-CN" altLang="en-US"/>
                  <a:t>个，右侧填了</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𝑦</m:t>
                    </m:r>
                  </m:oMath>
                </a14:m>
                <a:r>
                  <a:rPr lang="en-US" altLang="zh-CN"/>
                  <a:t> </a:t>
                </a:r>
                <a:r>
                  <a:rPr lang="zh-CN" altLang="en-US"/>
                  <a:t>个，那么本质上就是限制</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𝑎</m:t>
                    </m:r>
                  </m:oMath>
                </a14:m>
                <a:r>
                  <a:rPr lang="en-US" altLang="zh-CN"/>
                  <a:t> </a:t>
                </a:r>
                <a:r>
                  <a:rPr lang="zh-CN" altLang="en-US"/>
                  <a:t>且</a:t>
                </a:r>
                <a:r>
                  <a:rPr lang="en-US" altLang="zh-CN"/>
                  <a:t> </a:t>
                </a:r>
                <a14:m>
                  <m:oMath xmlns:m="http://schemas.openxmlformats.org/officeDocument/2006/math">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𝑦</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a14:m>
                <a:endParaRPr lang="zh-CN" altLang="en-US"/>
              </a:p>
              <a:p>
                <a:pPr marL="457200" lvl="1" indent="0">
                  <a:buNone/>
                </a:pP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xfrm>
                <a:off x="429260" y="120015"/>
                <a:ext cx="10828020" cy="6616700"/>
              </a:xfrm>
              <a:blipFill rotWithShape="1">
                <a:blip r:embed="rId1"/>
                <a:stretch>
                  <a:fillRect t="-307" r="-1478"/>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4311015" y="2667000"/>
            <a:ext cx="4248150" cy="2091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63905" y="723900"/>
                <a:ext cx="10589895" cy="5453380"/>
              </a:xfrm>
            </p:spPr>
            <p:txBody>
              <a:bodyPr>
                <a:normAutofit lnSpcReduction="10000"/>
              </a:bodyPr>
              <a:p>
                <a:r>
                  <a:rPr lang="zh-CN" altLang="en-US"/>
                  <a:t>考虑如下的图，</a:t>
                </a:r>
                <a:r>
                  <a:rPr lang="zh-CN" altLang="en-US"/>
                  <a:t>注意</a:t>
                </a:r>
                <a:endParaRPr lang="zh-CN" altLang="en-US"/>
              </a:p>
              <a:p>
                <a:pPr marL="0" indent="0">
                  <a:buNone/>
                </a:pPr>
                <a:r>
                  <a:rPr lang="zh-CN" altLang="en-US"/>
                  <a:t>对于</a:t>
                </a:r>
                <a:r>
                  <a:rPr lang="en-US" altLang="zh-CN"/>
                  <a:t> 1 </a:t>
                </a:r>
                <a:r>
                  <a:rPr lang="zh-CN" altLang="en-US"/>
                  <a:t>位置确定的</a:t>
                </a:r>
                <a:r>
                  <a:rPr lang="zh-CN" altLang="en-US"/>
                  <a:t>情况，</a:t>
                </a:r>
                <a:endParaRPr lang="zh-CN" altLang="en-US"/>
              </a:p>
              <a:p>
                <a:pPr marL="0" indent="0">
                  <a:buNone/>
                </a:pPr>
                <a:r>
                  <a:rPr lang="zh-CN" altLang="en-US"/>
                  <a:t>直接按照斜线</a:t>
                </a:r>
                <a:r>
                  <a:rPr lang="zh-CN" altLang="en-US"/>
                  <a:t>从小到大</a:t>
                </a:r>
                <a:endParaRPr lang="zh-CN" altLang="en-US"/>
              </a:p>
              <a:p>
                <a:pPr marL="0" indent="0">
                  <a:buNone/>
                </a:pPr>
                <a:r>
                  <a:rPr lang="en-US" altLang="zh-CN"/>
                  <a:t>dp </a:t>
                </a:r>
                <a:r>
                  <a:rPr lang="zh-CN" altLang="en-US"/>
                  <a:t>即可</a:t>
                </a:r>
                <a:endParaRPr lang="zh-CN" altLang="en-US"/>
              </a:p>
              <a:p>
                <a:r>
                  <a:rPr lang="zh-CN" altLang="en-US"/>
                  <a:t>对于</a:t>
                </a:r>
                <a:r>
                  <a:rPr lang="en-US" altLang="zh-CN"/>
                  <a:t> 1 </a:t>
                </a:r>
                <a:r>
                  <a:rPr lang="zh-CN" altLang="en-US"/>
                  <a:t>的位置不固定的情况，</a:t>
                </a:r>
                <a:r>
                  <a:rPr lang="en-US" altLang="zh-CN"/>
                  <a:t>1 </a:t>
                </a:r>
                <a:r>
                  <a:rPr lang="zh-CN" altLang="en-US"/>
                  <a:t>的位置只可能处于</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a</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b</m:t>
                    </m:r>
                  </m:oMath>
                </a14:m>
                <a:r>
                  <a:rPr lang="en-US" altLang="zh-CN"/>
                  <a:t> </a:t>
                </a:r>
                <a:r>
                  <a:rPr lang="zh-CN" altLang="en-US"/>
                  <a:t>或</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b</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c</m:t>
                    </m:r>
                  </m:oMath>
                </a14:m>
                <a:r>
                  <a:rPr lang="zh-CN" altLang="en-US"/>
                  <a:t>，假设其在</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a</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b</m:t>
                    </m:r>
                  </m:oMath>
                </a14:m>
                <a:r>
                  <a:rPr lang="zh-CN" altLang="en-US"/>
                  <a:t>，不难发现，任然可以把</a:t>
                </a:r>
                <a:r>
                  <a:rPr lang="en-US" altLang="zh-CN"/>
                  <a:t> 1 </a:t>
                </a:r>
                <a:r>
                  <a:rPr lang="zh-CN" altLang="en-US"/>
                  <a:t>的位置的移动视作是坐标轴原点沿直线</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y</m:t>
                    </m:r>
                    <m:r>
                      <a:rPr lang="en-US" altLang="zh-CN">
                        <a:latin typeface="Cambria Math" panose="02040503050406030204" charset="0"/>
                        <a:cs typeface="Cambria Math" panose="02040503050406030204" charset="0"/>
                      </a:rPr>
                      <m:t> = −</m:t>
                    </m:r>
                    <m:r>
                      <m:rPr>
                        <m:sty m:val="p"/>
                      </m:rPr>
                      <a:rPr lang="en-US" altLang="zh-CN">
                        <a:latin typeface="Cambria Math" panose="02040503050406030204" charset="0"/>
                        <a:cs typeface="Cambria Math" panose="02040503050406030204" charset="0"/>
                      </a:rPr>
                      <m:t>x</m:t>
                    </m:r>
                  </m:oMath>
                </a14:m>
                <a:r>
                  <a:rPr lang="en-US" altLang="zh-CN"/>
                  <a:t> </a:t>
                </a:r>
                <a:r>
                  <a:rPr lang="zh-CN" altLang="en-US"/>
                  <a:t>平移，那么我们可以先倒着</a:t>
                </a:r>
                <a:r>
                  <a:rPr lang="en-US" altLang="zh-CN"/>
                  <a:t> dp </a:t>
                </a:r>
                <a:r>
                  <a:rPr lang="zh-CN" altLang="en-US"/>
                  <a:t>一次算出从直线算出从直线</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x</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y</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n</m:t>
                    </m:r>
                    <m:r>
                      <a:rPr lang="en-US" altLang="zh-CN">
                        <a:latin typeface="Cambria Math" panose="02040503050406030204" charset="0"/>
                        <a:cs typeface="Cambria Math" panose="02040503050406030204" charset="0"/>
                      </a:rPr>
                      <m:t>−2</m:t>
                    </m:r>
                  </m:oMath>
                </a14:m>
                <a:r>
                  <a:rPr lang="en-US" altLang="zh-CN"/>
                  <a:t> </a:t>
                </a:r>
                <a:r>
                  <a:rPr lang="zh-CN" altLang="en-US"/>
                  <a:t>到最靠近原点的斜线的方案数，再考虑从原点到该直线的方案数</a:t>
                </a:r>
                <a:r>
                  <a:rPr lang="en-US" altLang="zh-CN"/>
                  <a:t>  </a:t>
                </a:r>
                <a:endParaRPr lang="en-US" altLang="zh-CN"/>
              </a:p>
              <a:p>
                <a:r>
                  <a:rPr lang="zh-CN" altLang="en-US"/>
                  <a:t>对于没有任何限制的情况，考虑这是一个经典的反射容斥问题，枚举</a:t>
                </a:r>
                <a:r>
                  <a:rPr lang="en-US" altLang="zh-CN"/>
                  <a:t> 1 </a:t>
                </a:r>
                <a:r>
                  <a:rPr lang="zh-CN" altLang="en-US"/>
                  <a:t>的位置再枚举翻折次数后只需要再预处理以</a:t>
                </a:r>
                <a:r>
                  <a:rPr lang="en-US" altLang="zh-CN"/>
                  <a:t> n </a:t>
                </a:r>
                <a:r>
                  <a:rPr lang="zh-CN" altLang="en-US"/>
                  <a:t>为上标的组合数前缀和即可。本题总时间复杂度为</a:t>
                </a:r>
                <a:r>
                  <a:rPr lang="en-US" altLang="zh-CN"/>
                  <a:t> </a:t>
                </a:r>
                <a14:m>
                  <m:oMath xmlns:m="http://schemas.openxmlformats.org/officeDocument/2006/math">
                    <m:r>
                      <m:rPr>
                        <m:sty m:val="p"/>
                      </m:rPr>
                      <a:rPr lang="en-US" altLang="zh-CN">
                        <a:latin typeface="Cambria Math" panose="02040503050406030204" charset="0"/>
                        <a:cs typeface="Cambria Math" panose="02040503050406030204" charset="0"/>
                      </a:rPr>
                      <m:t>O</m:t>
                    </m:r>
                    <m:r>
                      <a:rPr lang="en-US" altLang="zh-CN">
                        <a:latin typeface="Cambria Math" panose="02040503050406030204" charset="0"/>
                        <a:cs typeface="Cambria Math" panose="02040503050406030204" charset="0"/>
                      </a:rPr>
                      <m:t>(</m:t>
                    </m:r>
                    <m:r>
                      <m:rPr>
                        <m:sty m:val="p"/>
                      </m:rPr>
                      <a:rPr lang="en-US" altLang="zh-CN">
                        <a:latin typeface="Cambria Math" panose="02040503050406030204" charset="0"/>
                        <a:cs typeface="Cambria Math" panose="02040503050406030204" charset="0"/>
                      </a:rPr>
                      <m:t>n</m:t>
                    </m:r>
                    <m:r>
                      <a:rPr lang="en-US" altLang="zh-CN">
                        <a:latin typeface="Cambria Math" panose="02040503050406030204" charset="0"/>
                        <a:cs typeface="Cambria Math" panose="02040503050406030204" charset="0"/>
                      </a:rPr>
                      <m:t>)</m:t>
                    </m:r>
                  </m:oMath>
                </a14:m>
                <a:endParaRPr lang="en-US" altLang="zh-CN"/>
              </a:p>
              <a:p>
                <a:endParaRPr lang="en-US" altLang="zh-CN"/>
              </a:p>
            </p:txBody>
          </p:sp>
        </mc:Choice>
        <mc:Fallback>
          <p:sp>
            <p:nvSpPr>
              <p:cNvPr id="3" name="内容占位符 2"/>
              <p:cNvSpPr>
                <a:spLocks noRot="1" noChangeAspect="1" noMove="1" noResize="1" noEditPoints="1" noAdjustHandles="1" noChangeArrowheads="1" noChangeShapeType="1" noTextEdit="1"/>
              </p:cNvSpPr>
              <p:nvPr>
                <p:ph idx="1"/>
              </p:nvPr>
            </p:nvSpPr>
            <p:spPr>
              <a:xfrm>
                <a:off x="763905" y="723900"/>
                <a:ext cx="10589895" cy="5453380"/>
              </a:xfrm>
              <a:blipFill rotWithShape="1">
                <a:blip r:embed="rId1"/>
                <a:stretch>
                  <a:fillRect t="-1013" r="-1241"/>
                </a:stretch>
              </a:blipFill>
            </p:spPr>
            <p:txBody>
              <a:bodyPr/>
              <a:lstStyle/>
              <a:p>
                <a:r>
                  <a:rPr lang="zh-CN" altLang="en-US">
                    <a:noFill/>
                  </a:rPr>
                  <a:t> </a:t>
                </a:r>
              </a:p>
            </p:txBody>
          </p:sp>
        </mc:Fallback>
      </mc:AlternateContent>
      <p:pic>
        <p:nvPicPr>
          <p:cNvPr id="4" name="图片 3"/>
          <p:cNvPicPr/>
          <p:nvPr/>
        </p:nvPicPr>
        <p:blipFill>
          <a:blip r:embed="rId2"/>
          <a:stretch>
            <a:fillRect/>
          </a:stretch>
        </p:blipFill>
        <p:spPr>
          <a:xfrm>
            <a:off x="4632325" y="161925"/>
            <a:ext cx="7217410" cy="22307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4018</Words>
  <Application>WPS 演示</Application>
  <PresentationFormat>宽屏</PresentationFormat>
  <Paragraphs>118</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Cambria Math</vt:lpstr>
      <vt:lpstr>微软雅黑</vt:lpstr>
      <vt:lpstr>MS Mincho</vt:lpstr>
      <vt:lpstr>Segoe Print</vt:lpstr>
      <vt:lpstr>Calibri</vt:lpstr>
      <vt:lpstr>Arial Unicode MS</vt:lpstr>
      <vt:lpstr>WPS</vt:lpstr>
      <vt:lpstr>计数杂题（2）</vt:lpstr>
      <vt:lpstr>集训队互测 2021 细菌</vt:lpstr>
      <vt:lpstr>PowerPoint 演示文稿</vt:lpstr>
      <vt:lpstr>ucup.stage4-3-E Maximum Segment Sum</vt:lpstr>
      <vt:lpstr>PowerPoint 演示文稿</vt:lpstr>
      <vt:lpstr>PowerPoint 演示文稿</vt:lpstr>
      <vt:lpstr>[KTSC 2023 R2] 会议室 2</vt:lpstr>
      <vt:lpstr>PowerPoint 演示文稿</vt:lpstr>
      <vt:lpstr>PowerPoint 演示文稿</vt:lpstr>
      <vt:lpstr>「2020-2021 集训队作业」Communication Network</vt:lpstr>
      <vt:lpstr>PowerPoint 演示文稿</vt:lpstr>
      <vt:lpstr>PowerPoint 演示文稿</vt:lpstr>
      <vt:lpstr>CF2190E Median Permutation</vt:lpstr>
      <vt:lpstr>PowerPoint 演示文稿</vt:lpstr>
      <vt:lpstr>CF1761F2 Anti-median (Hard Version)</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毛团儿</cp:lastModifiedBy>
  <cp:revision>468</cp:revision>
  <dcterms:created xsi:type="dcterms:W3CDTF">2023-08-09T12:44:00Z</dcterms:created>
  <dcterms:modified xsi:type="dcterms:W3CDTF">2026-03-03T05:51:40Z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FE22BC6552A041B68C32302FE136F2C2_12</vt:lpwstr>
  </property>
</Properties>
</file>