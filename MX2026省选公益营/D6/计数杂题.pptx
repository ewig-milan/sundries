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p>
            <a:r>
              <a:rPr lang="zh-CN" altLang="en-US"/>
              <a:t>计数杂题（</a:t>
            </a:r>
            <a:r>
              <a:rPr lang="en-US" altLang="zh-CN"/>
              <a:t>1</a:t>
            </a:r>
            <a:r>
              <a:rPr lang="zh-CN" altLang="en-US"/>
              <a:t>）</a:t>
            </a:r>
            <a:endParaRPr lang="en-US" altLang="zh-CN"/>
          </a:p>
        </p:txBody>
      </p:sp>
      <p:sp>
        <p:nvSpPr>
          <p:cNvPr id="3" name="副标题 2"/>
          <p:cNvSpPr>
            <a:spLocks noGrp="1"/>
          </p:cNvSpPr>
          <p:nvPr>
            <p:ph type="subTitle" idx="1"/>
          </p:nvPr>
        </p:nvSpPr>
        <p:spPr/>
        <p:txBody>
          <a:bodyPr/>
          <a:p>
            <a:r>
              <a:rPr lang="zh-CN" altLang="en-US"/>
              <a:t>苟竞予</a:t>
            </a: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[ICPC 2019 WF] Traffic Blights</a:t>
            </a:r>
            <a:endParaRPr lang="en-US" altLang="zh-CN"/>
          </a:p>
        </p:txBody>
      </p:sp>
      <p:sp>
        <p:nvSpPr>
          <p:cNvPr id="3" name="内容占位符 2"/>
          <p:cNvSpPr>
            <a:spLocks noGrp="1"/>
          </p:cNvSpPr>
          <p:nvPr>
            <p:ph idx="1"/>
          </p:nvPr>
        </p:nvSpPr>
        <p:spPr/>
        <p:txBody>
          <a:bodyPr>
            <a:normAutofit fontScale="90000" lnSpcReduction="10000"/>
          </a:bodyPr>
          <a:p>
            <a:pPr marL="0" indent="0">
              <a:buNone/>
            </a:pPr>
            <a:r>
              <a:rPr lang="zh-CN" altLang="en-US"/>
              <a:t>一条东西向的</a:t>
            </a:r>
            <a:r>
              <a:rPr lang="zh-CN" altLang="en-US"/>
              <a:t>线段上，上面有若干位置互异的红绿灯。每个红绿灯以某个固定周期在红绿之间循环。更具体地，它会先持续</a:t>
            </a:r>
            <a:r>
              <a:rPr lang="en-US" altLang="zh-CN"/>
              <a:t> r </a:t>
            </a:r>
            <a:r>
              <a:rPr lang="zh-CN" altLang="en-US"/>
              <a:t>秒的红灯，再持续</a:t>
            </a:r>
            <a:r>
              <a:rPr lang="en-US" altLang="zh-CN"/>
              <a:t> g </a:t>
            </a:r>
            <a:r>
              <a:rPr lang="zh-CN" altLang="en-US"/>
              <a:t>秒的绿灯，再持续</a:t>
            </a:r>
            <a:r>
              <a:rPr lang="en-US" altLang="zh-CN"/>
              <a:t> r </a:t>
            </a:r>
            <a:r>
              <a:rPr lang="zh-CN" altLang="en-US"/>
              <a:t>秒的红灯</a:t>
            </a:r>
            <a:r>
              <a:rPr lang="en-US" altLang="zh-CN"/>
              <a:t>...</a:t>
            </a:r>
            <a:r>
              <a:rPr lang="zh-CN" altLang="en-US"/>
              <a:t>如此往复。对于不同的红绿灯，</a:t>
            </a:r>
            <a:r>
              <a:rPr lang="en-US" altLang="zh-CN"/>
              <a:t>r </a:t>
            </a:r>
            <a:r>
              <a:rPr lang="zh-CN" altLang="en-US"/>
              <a:t>和</a:t>
            </a:r>
            <a:r>
              <a:rPr lang="en-US" altLang="zh-CN"/>
              <a:t> g </a:t>
            </a:r>
            <a:r>
              <a:rPr lang="zh-CN" altLang="en-US"/>
              <a:t>的值可能不同。在时刻</a:t>
            </a:r>
            <a:r>
              <a:rPr lang="en-US" altLang="zh-CN"/>
              <a:t> 0</a:t>
            </a:r>
            <a:r>
              <a:rPr lang="zh-CN" altLang="en-US"/>
              <a:t>，所有的红绿灯都恰好刚变为红灯。</a:t>
            </a:r>
            <a:endParaRPr lang="zh-CN" altLang="en-US"/>
          </a:p>
          <a:p>
            <a:pPr marL="0" indent="0">
              <a:buNone/>
            </a:pPr>
            <a:endParaRPr lang="zh-CN" altLang="en-US"/>
          </a:p>
          <a:p>
            <a:pPr marL="0" indent="0">
              <a:buNone/>
            </a:pPr>
            <a:r>
              <a:rPr lang="zh-CN" altLang="en-US"/>
              <a:t>假设此时有一辆汽车在前</a:t>
            </a:r>
            <a:r>
              <a:rPr lang="en-US" altLang="zh-CN"/>
              <a:t> 2019! </a:t>
            </a:r>
            <a:r>
              <a:rPr lang="zh-CN" altLang="en-US"/>
              <a:t>秒中的一个随机实数时刻神秘地出现在了</a:t>
            </a:r>
            <a:r>
              <a:rPr lang="en-US" altLang="zh-CN"/>
              <a:t> </a:t>
            </a:r>
            <a:r>
              <a:rPr lang="zh-CN" altLang="en-US"/>
              <a:t>线段的最西端，向东以</a:t>
            </a:r>
            <a:r>
              <a:rPr lang="en-US" altLang="zh-CN"/>
              <a:t> 1 m/s </a:t>
            </a:r>
            <a:r>
              <a:rPr lang="zh-CN" altLang="en-US"/>
              <a:t>龟速行驶，直到遇到第一个红灯时停下，那么它有多大的概率通过所有红绿灯？如果它停下来了，那么它在每个红绿灯处停下的概率有多大？</a:t>
            </a:r>
            <a:endParaRPr lang="zh-CN" altLang="en-US"/>
          </a:p>
          <a:p>
            <a:pPr marL="0" indent="0">
              <a:buNone/>
            </a:pPr>
            <a:endParaRPr lang="zh-CN" altLang="en-US"/>
          </a:p>
          <a:p>
            <a:pPr marL="0" indent="0">
              <a:buNone/>
            </a:pPr>
            <a:r>
              <a:rPr lang="zh-CN" altLang="en-US"/>
              <a:t>红绿灯的数量不超过</a:t>
            </a:r>
            <a:r>
              <a:rPr lang="en-US" altLang="zh-CN"/>
              <a:t> 500</a:t>
            </a:r>
            <a:r>
              <a:rPr lang="zh-CN" altLang="en-US"/>
              <a:t>个，</a:t>
            </a:r>
            <a:r>
              <a:rPr lang="en-US" altLang="zh-CN"/>
              <a:t>1&lt;=r+g&lt;=100</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596265" y="334645"/>
                <a:ext cx="10757535" cy="5842635"/>
              </a:xfrm>
            </p:spPr>
            <p:txBody>
              <a:bodyPr/>
              <a:p>
                <a:r>
                  <a:rPr lang="zh-CN" altLang="en-US"/>
                  <a:t>先考虑循环节的长度，显然是</a:t>
                </a:r>
                <a:r>
                  <a:rPr lang="en-US" altLang="zh-CN"/>
                  <a:t> </a:t>
                </a:r>
                <a14:m>
                  <m:oMath xmlns:m="http://schemas.openxmlformats.org/officeDocument/2006/math">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𝑙𝑐𝑚</m:t>
                        </m:r>
                      </m:e>
                      <m:sub>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up>
                        <m:r>
                          <a:rPr lang="en-US" altLang="zh-CN" i="1">
                            <a:latin typeface="Cambria Math" panose="02040503050406030204" charset="0"/>
                            <a:cs typeface="Cambria Math" panose="02040503050406030204" charset="0"/>
                          </a:rPr>
                          <m:t>𝑛</m:t>
                        </m:r>
                      </m:sup>
                    </m:sSubSup>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𝑟</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𝑔</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oMath>
                </a14:m>
                <a:r>
                  <a:rPr lang="zh-CN" altLang="en-US">
                    <a:latin typeface="Cambria Math" panose="02040503050406030204" charset="0"/>
                    <a:cs typeface="Cambria Math" panose="02040503050406030204" charset="0"/>
                  </a:rPr>
                  <a:t>，那么我们暴力可以做到</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𝑂</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𝑛</m:t>
                    </m:r>
                    <m:r>
                      <a:rPr lang="en-US" altLang="zh-CN" i="1">
                        <a:latin typeface="Cambria Math" panose="02040503050406030204" charset="0"/>
                        <a:cs typeface="Cambria Math" panose="02040503050406030204" charset="0"/>
                      </a:rPr>
                      <m:t>×</m:t>
                    </m:r>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𝑙𝑐𝑚</m:t>
                        </m:r>
                      </m:e>
                      <m:sub>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up>
                        <m:r>
                          <a:rPr lang="en-US" altLang="zh-CN" i="1">
                            <a:latin typeface="Cambria Math" panose="02040503050406030204" charset="0"/>
                            <a:cs typeface="Cambria Math" panose="02040503050406030204" charset="0"/>
                          </a:rPr>
                          <m:t>𝑛</m:t>
                        </m:r>
                      </m:sup>
                    </m:sSubSup>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𝑟</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𝑔</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m:t>
                    </m:r>
                  </m:oMath>
                </a14:m>
                <a:r>
                  <a:rPr lang="en-US" altLang="zh-CN">
                    <a:latin typeface="Cambria Math" panose="02040503050406030204" charset="0"/>
                    <a:cs typeface="Cambria Math" panose="02040503050406030204" charset="0"/>
                  </a:rPr>
                  <a:t> </a:t>
                </a:r>
                <a:endParaRPr lang="en-US" altLang="zh-CN">
                  <a:latin typeface="Cambria Math" panose="02040503050406030204" charset="0"/>
                  <a:cs typeface="Cambria Math" panose="02040503050406030204" charset="0"/>
                </a:endParaRPr>
              </a:p>
              <a:p>
                <a:r>
                  <a:rPr lang="zh-CN" altLang="en-US">
                    <a:latin typeface="Cambria Math" panose="02040503050406030204" charset="0"/>
                    <a:cs typeface="Cambria Math" panose="02040503050406030204" charset="0"/>
                  </a:rPr>
                  <a:t>考虑如何优化，对于一种特殊情况：</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𝑟</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𝑔</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 </m:t>
                    </m:r>
                  </m:oMath>
                </a14:m>
                <a:r>
                  <a:rPr lang="zh-CN" altLang="en-US">
                    <a:latin typeface="Cambria Math" panose="02040503050406030204" charset="0"/>
                    <a:cs typeface="Cambria Math" panose="02040503050406030204" charset="0"/>
                  </a:rPr>
                  <a:t>两两互质，那么答案是很容易计算的，因为对于每个循环节，我们枚举初始时间模循环节大小的余数后，会唯一对应一个初始时刻，因此直接简单计算</a:t>
                </a:r>
                <a:r>
                  <a:rPr lang="zh-CN" altLang="en-US">
                    <a:latin typeface="Cambria Math" panose="02040503050406030204" charset="0"/>
                    <a:cs typeface="Cambria Math" panose="02040503050406030204" charset="0"/>
                  </a:rPr>
                  <a:t>即可。</a:t>
                </a:r>
                <a:endParaRPr lang="zh-CN" altLang="en-US">
                  <a:latin typeface="Cambria Math" panose="02040503050406030204" charset="0"/>
                  <a:cs typeface="Cambria Math" panose="02040503050406030204" charset="0"/>
                </a:endParaRPr>
              </a:p>
              <a:p>
                <a:r>
                  <a:rPr lang="zh-CN" altLang="en-US">
                    <a:latin typeface="Cambria Math" panose="02040503050406030204" charset="0"/>
                    <a:cs typeface="Cambria Math" panose="02040503050406030204" charset="0"/>
                  </a:rPr>
                  <a:t>还有一种特殊情况：</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𝑟</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𝑔</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𝑝</m:t>
                        </m:r>
                      </m:e>
                      <m:sup>
                        <m:r>
                          <a:rPr lang="en-US" altLang="zh-CN" i="1">
                            <a:latin typeface="Cambria Math" panose="02040503050406030204" charset="0"/>
                            <a:cs typeface="Cambria Math" panose="02040503050406030204" charset="0"/>
                          </a:rPr>
                          <m:t>𝑘</m:t>
                        </m:r>
                      </m:sup>
                    </m:sSup>
                  </m:oMath>
                </a14:m>
                <a:r>
                  <a:rPr lang="zh-CN" altLang="en-US">
                    <a:latin typeface="Cambria Math" panose="02040503050406030204" charset="0"/>
                    <a:cs typeface="Cambria Math" panose="02040503050406030204" charset="0"/>
                  </a:rPr>
                  <a:t>，其中</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𝑝</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是某个质数，该情况更为简单，处理方法只需要将小周期嵌入大周期，即可套用上一种情况的</a:t>
                </a:r>
                <a:r>
                  <a:rPr lang="zh-CN" altLang="en-US">
                    <a:latin typeface="Cambria Math" panose="02040503050406030204" charset="0"/>
                    <a:cs typeface="Cambria Math" panose="02040503050406030204" charset="0"/>
                  </a:rPr>
                  <a:t>做法。</a:t>
                </a:r>
                <a:endParaRPr lang="zh-CN" altLang="en-US">
                  <a:latin typeface="Cambria Math" panose="02040503050406030204" charset="0"/>
                  <a:cs typeface="Cambria Math" panose="02040503050406030204" charset="0"/>
                </a:endParaRPr>
              </a:p>
              <a:p>
                <a:pPr algn="l"/>
                <a:r>
                  <a:rPr lang="zh-CN" altLang="en-US">
                    <a:latin typeface="Cambria Math" panose="02040503050406030204" charset="0"/>
                    <a:cs typeface="Cambria Math" panose="02040503050406030204" charset="0"/>
                  </a:rPr>
                  <a:t>因此，我们可以考虑第一种优化方式：选择一个合适的</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𝑉</m:t>
                    </m:r>
                  </m:oMath>
                </a14:m>
                <a:r>
                  <a:rPr lang="zh-CN" altLang="en-US">
                    <a:latin typeface="Cambria Math" panose="02040503050406030204" charset="0"/>
                    <a:cs typeface="Cambria Math" panose="02040503050406030204" charset="0"/>
                  </a:rPr>
                  <a:t>，并把初始时刻写作</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𝑘𝑉</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𝑏</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&lt;</m:t>
                    </m:r>
                    <m:r>
                      <a:rPr lang="en-US" altLang="zh-CN" i="1">
                        <a:latin typeface="Cambria Math" panose="02040503050406030204" charset="0"/>
                        <a:cs typeface="Cambria Math" panose="02040503050406030204" charset="0"/>
                      </a:rPr>
                      <m:t>𝑏</m:t>
                    </m:r>
                    <m:r>
                      <a:rPr lang="en-US" altLang="zh-CN" i="1">
                        <a:latin typeface="Cambria Math" panose="02040503050406030204" charset="0"/>
                        <a:cs typeface="Cambria Math" panose="02040503050406030204" charset="0"/>
                      </a:rPr>
                      <m:t>&lt;</m:t>
                    </m:r>
                    <m:r>
                      <a:rPr lang="en-US" altLang="zh-CN" i="1">
                        <a:latin typeface="Cambria Math" panose="02040503050406030204" charset="0"/>
                        <a:cs typeface="Cambria Math" panose="02040503050406030204" charset="0"/>
                      </a:rPr>
                      <m:t>𝑉</m:t>
                    </m:r>
                    <m:r>
                      <a:rPr lang="en-US" altLang="zh-CN" i="1">
                        <a:latin typeface="Cambria Math" panose="02040503050406030204" charset="0"/>
                        <a:cs typeface="Cambria Math" panose="02040503050406030204" charset="0"/>
                      </a:rPr>
                      <m:t>)</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的形式，枚举</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𝑏</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之后就可以把每个周期</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𝑦</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𝑦</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𝑔𝑐𝑑</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𝑦</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𝑉</m:t>
                    </m:r>
                    <m:r>
                      <a:rPr lang="en-US" altLang="zh-CN" i="1">
                        <a:latin typeface="Cambria Math" panose="02040503050406030204" charset="0"/>
                        <a:cs typeface="Cambria Math" panose="02040503050406030204" charset="0"/>
                      </a:rPr>
                      <m:t>)</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进行缩小，复杂度就是</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𝑂</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𝑛𝑉𝑚𝑎𝑥</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𝑟</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𝑔</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m:t>
                    </m:r>
                  </m:oMath>
                </a14:m>
                <a:endParaRPr lang="en-US" altLang="zh-CN" i="1">
                  <a:latin typeface="Cambria Math" panose="02040503050406030204" charset="0"/>
                  <a:cs typeface="Cambria Math" panose="02040503050406030204" charset="0"/>
                </a:endParaRPr>
              </a:p>
              <a:p>
                <a:pPr algn="l"/>
                <a:r>
                  <a:rPr lang="zh-CN" altLang="en-US">
                    <a:latin typeface="Cambria Math" panose="02040503050406030204" charset="0"/>
                    <a:cs typeface="Cambria Math" panose="02040503050406030204" charset="0"/>
                  </a:rPr>
                  <a:t>那么如何选取</a:t>
                </a:r>
                <a14:m>
                  <m:oMath xmlns:m="http://schemas.openxmlformats.org/officeDocument/2006/math">
                    <m:r>
                      <a:rPr lang="en-US" altLang="zh-CN" i="1">
                        <a:latin typeface="Cambria Math" panose="02040503050406030204" charset="0"/>
                        <a:cs typeface="Cambria Math" panose="02040503050406030204" charset="0"/>
                      </a:rPr>
                      <m:t>𝑉</m:t>
                    </m:r>
                  </m:oMath>
                </a14:m>
                <a:r>
                  <a:rPr lang="zh-CN" altLang="en-US">
                    <a:latin typeface="Cambria Math" panose="02040503050406030204" charset="0"/>
                    <a:cs typeface="Cambria Math" panose="02040503050406030204" charset="0"/>
                  </a:rPr>
                  <a:t>？答案便是</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𝑉</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𝑙𝑐𝑚</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2</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10</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2520</m:t>
                    </m:r>
                  </m:oMath>
                </a14:m>
                <a:endParaRPr lang="en-US" altLang="zh-CN">
                  <a:latin typeface="Cambria Math" panose="02040503050406030204" charset="0"/>
                  <a:cs typeface="Cambria Math" panose="02040503050406030204"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596265" y="334645"/>
                <a:ext cx="10757535" cy="5842635"/>
              </a:xfrm>
              <a:blipFill rotWithShape="1">
                <a:blip r:embed="rId1"/>
                <a:stretch>
                  <a:fillRect r="-2143"/>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CF1842G Tenzing and Random Operations</a:t>
            </a:r>
            <a:endParaRPr lang="en-US" altLang="zh-CN"/>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p>
                <a:pPr marL="0" indent="0">
                  <a:buNone/>
                </a:pPr>
                <a:r>
                  <a:rPr lang="en-US" altLang="zh-CN"/>
                  <a:t>Tenzing </a:t>
                </a:r>
                <a:r>
                  <a:rPr lang="zh-CN" altLang="en-US"/>
                  <a:t>有一个长度为</a:t>
                </a:r>
                <a:r>
                  <a:rPr lang="en-US" altLang="zh-CN"/>
                  <a:t> </a:t>
                </a:r>
                <a14:m>
                  <m:oMath xmlns:m="http://schemas.openxmlformats.org/officeDocument/2006/math">
                    <m:r>
                      <m:rPr>
                        <m:sty m:val="p"/>
                      </m:rPr>
                      <a:rPr lang="en-US" altLang="zh-CN">
                        <a:latin typeface="Cambria Math" panose="02040503050406030204" charset="0"/>
                        <a:cs typeface="Cambria Math" panose="02040503050406030204" charset="0"/>
                      </a:rPr>
                      <m:t>n</m:t>
                    </m:r>
                  </m:oMath>
                </a14:m>
                <a:r>
                  <a:rPr lang="en-US" altLang="zh-CN"/>
                  <a:t> </a:t>
                </a:r>
                <a:r>
                  <a:rPr lang="zh-CN" altLang="en-US"/>
                  <a:t>的数组</a:t>
                </a:r>
                <a:r>
                  <a:rPr lang="en-US" altLang="zh-CN"/>
                  <a:t> </a:t>
                </a:r>
                <a14:m>
                  <m:oMath xmlns:m="http://schemas.openxmlformats.org/officeDocument/2006/math">
                    <m:r>
                      <m:rPr>
                        <m:sty m:val="p"/>
                      </m:rPr>
                      <a:rPr lang="en-US" altLang="zh-CN">
                        <a:latin typeface="Cambria Math" panose="02040503050406030204" charset="0"/>
                        <a:cs typeface="Cambria Math" panose="02040503050406030204" charset="0"/>
                      </a:rPr>
                      <m:t>a</m:t>
                    </m:r>
                  </m:oMath>
                </a14:m>
                <a:r>
                  <a:rPr lang="en-US" altLang="zh-CN"/>
                  <a:t> </a:t>
                </a:r>
                <a:r>
                  <a:rPr lang="zh-CN" altLang="en-US"/>
                  <a:t>和一个整数</a:t>
                </a:r>
                <a:r>
                  <a:rPr lang="en-US" altLang="zh-CN"/>
                  <a:t> </a:t>
                </a:r>
                <a14:m>
                  <m:oMath xmlns:m="http://schemas.openxmlformats.org/officeDocument/2006/math">
                    <m:r>
                      <m:rPr>
                        <m:sty m:val="p"/>
                      </m:rPr>
                      <a:rPr lang="en-US" altLang="zh-CN">
                        <a:latin typeface="Cambria Math" panose="02040503050406030204" charset="0"/>
                        <a:cs typeface="Cambria Math" panose="02040503050406030204" charset="0"/>
                      </a:rPr>
                      <m:t>v</m:t>
                    </m:r>
                  </m:oMath>
                </a14:m>
                <a:r>
                  <a:rPr lang="zh-CN" altLang="en-US"/>
                  <a:t>。</a:t>
                </a:r>
                <a:endParaRPr lang="zh-CN" altLang="en-US"/>
              </a:p>
              <a:p>
                <a:pPr marL="0" indent="0">
                  <a:buNone/>
                </a:pPr>
                <a:r>
                  <a:rPr lang="en-US" altLang="zh-CN"/>
                  <a:t>Tenzing </a:t>
                </a:r>
                <a:r>
                  <a:rPr lang="zh-CN" altLang="en-US"/>
                  <a:t>将进行</a:t>
                </a:r>
                <a:r>
                  <a:rPr lang="en-US" altLang="zh-CN"/>
                  <a:t> </a:t>
                </a:r>
                <a14:m>
                  <m:oMath xmlns:m="http://schemas.openxmlformats.org/officeDocument/2006/math">
                    <m:r>
                      <m:rPr>
                        <m:sty m:val="p"/>
                      </m:rPr>
                      <a:rPr lang="en-US" altLang="zh-CN">
                        <a:latin typeface="Cambria Math" panose="02040503050406030204" charset="0"/>
                        <a:cs typeface="Cambria Math" panose="02040503050406030204" charset="0"/>
                      </a:rPr>
                      <m:t>m</m:t>
                    </m:r>
                  </m:oMath>
                </a14:m>
                <a:r>
                  <a:rPr lang="en-US" altLang="zh-CN"/>
                  <a:t> </a:t>
                </a:r>
                <a:r>
                  <a:rPr lang="zh-CN" altLang="en-US"/>
                  <a:t>次如下操作：</a:t>
                </a:r>
                <a:endParaRPr lang="zh-CN" altLang="en-US"/>
              </a:p>
              <a:p>
                <a:pPr marL="0" indent="0">
                  <a:buNone/>
                </a:pPr>
                <a:r>
                  <a:rPr lang="en-US" altLang="zh-CN"/>
                  <a:t>1.</a:t>
                </a:r>
                <a:r>
                  <a:rPr lang="zh-CN" altLang="en-US"/>
                  <a:t>每次等概率随机选择一个整数</a:t>
                </a:r>
                <a:r>
                  <a:rPr lang="en-US" altLang="zh-CN"/>
                  <a:t> </a:t>
                </a:r>
                <a14:m>
                  <m:oMath xmlns:m="http://schemas.openxmlformats.org/officeDocument/2006/math">
                    <m:r>
                      <m:rPr>
                        <m:sty m:val="p"/>
                      </m:rPr>
                      <a:rPr lang="en-US" altLang="zh-CN">
                        <a:latin typeface="Cambria Math" panose="02040503050406030204" charset="0"/>
                        <a:cs typeface="Cambria Math" panose="02040503050406030204" charset="0"/>
                      </a:rPr>
                      <m:t>i</m:t>
                    </m:r>
                  </m:oMath>
                </a14:m>
                <a:r>
                  <a:rPr lang="zh-CN" altLang="en-US"/>
                  <a:t>，满足</a:t>
                </a:r>
                <a:r>
                  <a:rPr lang="en-US" altLang="zh-CN"/>
                  <a:t> </a:t>
                </a:r>
                <a14:m>
                  <m:oMath xmlns:m="http://schemas.openxmlformats.org/officeDocument/2006/math">
                    <m:r>
                      <a:rPr lang="en-US" altLang="zh-CN">
                        <a:latin typeface="Cambria Math" panose="02040503050406030204" charset="0"/>
                        <a:cs typeface="Cambria Math" panose="02040503050406030204" charset="0"/>
                      </a:rPr>
                      <m:t>1</m:t>
                    </m:r>
                    <m:r>
                      <a:rPr lang="en-US" altLang="zh-CN">
                        <a:latin typeface="Cambria Math" panose="02040503050406030204" charset="0"/>
                        <a:cs typeface="Cambria Math" panose="02040503050406030204" charset="0"/>
                      </a:rPr>
                      <m:t>≤</m:t>
                    </m:r>
                    <m:r>
                      <m:rPr>
                        <m:sty m:val="p"/>
                      </m:rPr>
                      <a:rPr lang="en-US" altLang="zh-CN">
                        <a:latin typeface="Cambria Math" panose="02040503050406030204" charset="0"/>
                        <a:cs typeface="Cambria Math" panose="02040503050406030204" charset="0"/>
                      </a:rPr>
                      <m:t>i</m:t>
                    </m:r>
                    <m:r>
                      <a:rPr lang="en-US" altLang="zh-CN">
                        <a:latin typeface="Cambria Math" panose="02040503050406030204" charset="0"/>
                        <a:cs typeface="Cambria Math" panose="02040503050406030204" charset="0"/>
                      </a:rPr>
                      <m:t>≤</m:t>
                    </m:r>
                    <m:r>
                      <m:rPr>
                        <m:sty m:val="p"/>
                      </m:rPr>
                      <a:rPr lang="en-US" altLang="zh-CN">
                        <a:latin typeface="Cambria Math" panose="02040503050406030204" charset="0"/>
                        <a:cs typeface="Cambria Math" panose="02040503050406030204" charset="0"/>
                      </a:rPr>
                      <m:t>n</m:t>
                    </m:r>
                  </m:oMath>
                </a14:m>
                <a:r>
                  <a:rPr lang="zh-CN" altLang="en-US"/>
                  <a:t>。</a:t>
                </a:r>
                <a:endParaRPr lang="zh-CN" altLang="en-US"/>
              </a:p>
              <a:p>
                <a:pPr marL="0" indent="0">
                  <a:buNone/>
                </a:pPr>
                <a:r>
                  <a:rPr lang="en-US" altLang="zh-CN"/>
                  <a:t>2.</a:t>
                </a:r>
                <a:r>
                  <a:rPr lang="zh-CN" altLang="en-US"/>
                  <a:t>对所有满足</a:t>
                </a:r>
                <a:r>
                  <a:rPr lang="en-US" altLang="zh-CN"/>
                  <a:t> </a:t>
                </a:r>
                <a14:m>
                  <m:oMath xmlns:m="http://schemas.openxmlformats.org/officeDocument/2006/math">
                    <m:r>
                      <m:rPr>
                        <m:sty m:val="p"/>
                      </m:rPr>
                      <a:rPr lang="en-US" altLang="zh-CN">
                        <a:latin typeface="Cambria Math" panose="02040503050406030204" charset="0"/>
                        <a:cs typeface="Cambria Math" panose="02040503050406030204" charset="0"/>
                      </a:rPr>
                      <m:t>i</m:t>
                    </m:r>
                    <m:r>
                      <a:rPr lang="en-US" altLang="zh-CN">
                        <a:latin typeface="Cambria Math" panose="02040503050406030204" charset="0"/>
                        <a:cs typeface="Cambria Math" panose="02040503050406030204" charset="0"/>
                      </a:rPr>
                      <m:t>≤</m:t>
                    </m:r>
                    <m:r>
                      <m:rPr>
                        <m:sty m:val="p"/>
                      </m:rPr>
                      <a:rPr lang="en-US" altLang="zh-CN">
                        <a:latin typeface="Cambria Math" panose="02040503050406030204" charset="0"/>
                        <a:cs typeface="Cambria Math" panose="02040503050406030204" charset="0"/>
                      </a:rPr>
                      <m:t>j</m:t>
                    </m:r>
                    <m:r>
                      <a:rPr lang="en-US" altLang="zh-CN">
                        <a:latin typeface="Cambria Math" panose="02040503050406030204" charset="0"/>
                        <a:cs typeface="Cambria Math" panose="02040503050406030204" charset="0"/>
                      </a:rPr>
                      <m:t>≤</m:t>
                    </m:r>
                    <m:r>
                      <m:rPr>
                        <m:sty m:val="p"/>
                      </m:rPr>
                      <a:rPr lang="en-US" altLang="zh-CN">
                        <a:latin typeface="Cambria Math" panose="02040503050406030204" charset="0"/>
                        <a:cs typeface="Cambria Math" panose="02040503050406030204" charset="0"/>
                      </a:rPr>
                      <m:t>n</m:t>
                    </m:r>
                  </m:oMath>
                </a14:m>
                <a:r>
                  <a:rPr lang="en-US" altLang="zh-CN"/>
                  <a:t> </a:t>
                </a:r>
                <a:r>
                  <a:rPr lang="zh-CN" altLang="en-US"/>
                  <a:t>的</a:t>
                </a:r>
                <a:r>
                  <a:rPr lang="en-US" altLang="zh-CN"/>
                  <a:t> j</a:t>
                </a:r>
                <a:r>
                  <a:rPr lang="zh-CN" altLang="en-US"/>
                  <a:t>，将</a:t>
                </a:r>
                <a:r>
                  <a:rPr lang="en-US" altLang="zh-CN"/>
                  <a:t>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𝑗</m:t>
                        </m:r>
                      </m:sub>
                    </m:sSub>
                  </m:oMath>
                </a14:m>
                <a:r>
                  <a:rPr lang="en-US" altLang="zh-CN"/>
                  <a:t> </a:t>
                </a:r>
                <a:r>
                  <a:rPr lang="zh-CN" altLang="en-US"/>
                  <a:t>赋值为</a:t>
                </a:r>
                <a:r>
                  <a:rPr lang="en-US" altLang="zh-CN"/>
                  <a:t>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𝑗</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𝑣</m:t>
                    </m:r>
                  </m:oMath>
                </a14:m>
                <a:r>
                  <a:rPr lang="zh-CN" altLang="en-US"/>
                  <a:t>。</a:t>
                </a:r>
                <a:endParaRPr lang="zh-CN" altLang="en-US"/>
              </a:p>
              <a:p>
                <a:pPr marL="0" indent="0">
                  <a:buNone/>
                </a:pPr>
                <a:r>
                  <a:rPr lang="en-US" altLang="zh-CN"/>
                  <a:t>Tenzing </a:t>
                </a:r>
                <a:r>
                  <a:rPr lang="zh-CN" altLang="en-US"/>
                  <a:t>想知道，经过</a:t>
                </a:r>
                <a:r>
                  <a:rPr lang="en-US" altLang="zh-CN"/>
                  <a:t> </a:t>
                </a:r>
                <a14:m>
                  <m:oMath xmlns:m="http://schemas.openxmlformats.org/officeDocument/2006/math">
                    <m:r>
                      <a:rPr lang="en-US" altLang="zh-CN" i="1">
                        <a:latin typeface="Cambria Math" panose="02040503050406030204" charset="0"/>
                        <a:cs typeface="Cambria Math" panose="02040503050406030204" charset="0"/>
                      </a:rPr>
                      <m:t>𝑚</m:t>
                    </m:r>
                  </m:oMath>
                </a14:m>
                <a:r>
                  <a:rPr lang="en-US" altLang="zh-CN"/>
                  <a:t> </a:t>
                </a:r>
                <a:r>
                  <a:rPr lang="zh-CN" altLang="en-US"/>
                  <a:t>次操作后，</a:t>
                </a:r>
                <a14:m>
                  <m:oMath xmlns:m="http://schemas.openxmlformats.org/officeDocument/2006/math">
                    <m:nary>
                      <m:naryPr>
                        <m:chr m:val="∏"/>
                        <m:limLoc m:val="undOvr"/>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up>
                        <m:r>
                          <a:rPr lang="en-US" altLang="zh-CN" i="1">
                            <a:latin typeface="Cambria Math" panose="02040503050406030204" charset="0"/>
                            <a:cs typeface="Cambria Math" panose="02040503050406030204" charset="0"/>
                          </a:rPr>
                          <m:t>𝑛</m:t>
                        </m:r>
                      </m:sup>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𝑖</m:t>
                            </m:r>
                          </m:sub>
                        </m:sSub>
                      </m:e>
                    </m:nary>
                  </m:oMath>
                </a14:m>
                <a:r>
                  <a:rPr lang="en-US" altLang="zh-CN"/>
                  <a:t> </a:t>
                </a:r>
                <a:r>
                  <a:rPr lang="zh-CN" altLang="en-US"/>
                  <a:t>的期望值对</a:t>
                </a:r>
                <a:r>
                  <a:rPr lang="en-US" altLang="zh-CN"/>
                  <a:t> </a:t>
                </a:r>
                <a14:m>
                  <m:oMath xmlns:m="http://schemas.openxmlformats.org/officeDocument/2006/math">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10</m:t>
                        </m:r>
                      </m:e>
                      <m:sup>
                        <m:r>
                          <a:rPr lang="en-US" altLang="zh-CN" i="1">
                            <a:latin typeface="Cambria Math" panose="02040503050406030204" charset="0"/>
                            <a:cs typeface="Cambria Math" panose="02040503050406030204" charset="0"/>
                          </a:rPr>
                          <m:t>9</m:t>
                        </m:r>
                      </m:sup>
                    </m:s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7</m:t>
                    </m:r>
                  </m:oMath>
                </a14:m>
                <a:r>
                  <a:rPr lang="en-US" altLang="zh-CN"/>
                  <a:t> </a:t>
                </a:r>
                <a:r>
                  <a:rPr lang="zh-CN" altLang="en-US"/>
                  <a:t>取模后的</a:t>
                </a:r>
                <a:r>
                  <a:rPr lang="zh-CN" altLang="en-US"/>
                  <a:t>结果</a:t>
                </a:r>
                <a:endParaRPr lang="zh-CN" altLang="en-US"/>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588010" y="340360"/>
                <a:ext cx="11154410" cy="5836920"/>
              </a:xfrm>
            </p:spPr>
            <p:txBody>
              <a:bodyPr/>
              <a:p>
                <a:r>
                  <a:rPr lang="zh-CN" altLang="en-US"/>
                  <a:t>考虑设第</a:t>
                </a:r>
                <a:r>
                  <a:rPr lang="en-US" altLang="zh-CN"/>
                  <a:t> </a:t>
                </a:r>
                <a14:m>
                  <m:oMath xmlns:m="http://schemas.openxmlformats.org/officeDocument/2006/math">
                    <m:r>
                      <a:rPr lang="en-US" altLang="zh-CN" i="1">
                        <a:latin typeface="Cambria Math" panose="02040503050406030204" charset="0"/>
                        <a:cs typeface="Cambria Math" panose="02040503050406030204" charset="0"/>
                      </a:rPr>
                      <m:t>𝑖</m:t>
                    </m:r>
                  </m:oMath>
                </a14:m>
                <a:r>
                  <a:rPr lang="en-US" altLang="zh-CN"/>
                  <a:t> </a:t>
                </a:r>
                <a:r>
                  <a:rPr lang="zh-CN" altLang="en-US"/>
                  <a:t>次选择的位置是</a:t>
                </a:r>
                <a:r>
                  <a:rPr lang="en-US" altLang="zh-CN"/>
                  <a:t>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𝑝</m:t>
                        </m:r>
                      </m:e>
                      <m:sub>
                        <m:r>
                          <a:rPr lang="en-US" altLang="zh-CN" i="1">
                            <a:latin typeface="Cambria Math" panose="02040503050406030204" charset="0"/>
                            <a:cs typeface="Cambria Math" panose="02040503050406030204" charset="0"/>
                          </a:rPr>
                          <m:t>𝑖</m:t>
                        </m:r>
                      </m:sub>
                    </m:sSub>
                  </m:oMath>
                </a14:m>
                <a:r>
                  <a:rPr lang="zh-CN" altLang="en-US">
                    <a:latin typeface="Cambria Math" panose="02040503050406030204" charset="0"/>
                    <a:cs typeface="Cambria Math" panose="02040503050406030204" charset="0"/>
                  </a:rPr>
                  <a:t>，那么可以把答案写作</a:t>
                </a:r>
                <a14:m>
                  <m:oMath xmlns:m="http://schemas.openxmlformats.org/officeDocument/2006/math">
                    <m:nary>
                      <m:naryPr>
                        <m:chr m:val="∏"/>
                        <m:limLoc m:val="subSup"/>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up>
                        <m:r>
                          <a:rPr lang="en-US" altLang="zh-CN" i="1">
                            <a:latin typeface="Cambria Math" panose="02040503050406030204" charset="0"/>
                            <a:cs typeface="Cambria Math" panose="02040503050406030204" charset="0"/>
                          </a:rPr>
                          <m:t>𝑛</m:t>
                        </m:r>
                      </m:sup>
                      <m:e>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nary>
                          <m:naryPr>
                            <m:chr m:val="∏"/>
                            <m:limLoc m:val="subSup"/>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up>
                            <m:r>
                              <a:rPr lang="en-US" altLang="zh-CN" i="1">
                                <a:latin typeface="Cambria Math" panose="02040503050406030204" charset="0"/>
                                <a:cs typeface="Cambria Math" panose="02040503050406030204" charset="0"/>
                              </a:rPr>
                              <m:t>𝑚</m:t>
                            </m:r>
                          </m:sup>
                          <m:e>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𝑝</m:t>
                                </m:r>
                              </m:e>
                              <m:sub>
                                <m:r>
                                  <a:rPr lang="en-US" altLang="zh-CN" i="1">
                                    <a:latin typeface="Cambria Math" panose="02040503050406030204" charset="0"/>
                                    <a:cs typeface="Cambria Math" panose="02040503050406030204" charset="0"/>
                                  </a:rPr>
                                  <m:t>𝑗</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𝑣</m:t>
                            </m:r>
                          </m:e>
                        </m:nary>
                        <m:r>
                          <a:rPr lang="en-US" altLang="zh-CN" i="1">
                            <a:latin typeface="Cambria Math" panose="02040503050406030204" charset="0"/>
                            <a:cs typeface="Cambria Math" panose="02040503050406030204" charset="0"/>
                          </a:rPr>
                          <m:t>)</m:t>
                        </m:r>
                      </m:e>
                    </m:nary>
                  </m:oMath>
                </a14:m>
                <a:endParaRPr lang="en-US" altLang="zh-CN" i="1">
                  <a:latin typeface="Cambria Math" panose="02040503050406030204" charset="0"/>
                  <a:cs typeface="Cambria Math" panose="02040503050406030204" charset="0"/>
                </a:endParaRPr>
              </a:p>
              <a:p>
                <a:r>
                  <a:rPr lang="zh-CN" altLang="en-US">
                    <a:latin typeface="Cambria Math" panose="02040503050406030204" charset="0"/>
                    <a:cs typeface="Cambria Math" panose="02040503050406030204" charset="0"/>
                  </a:rPr>
                  <a:t>考虑乘积的组合意义</a:t>
                </a:r>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，也就是说每个括号内选择一个，那么共有三种选择，要么选择</a:t>
                </a:r>
                <a:r>
                  <a:rPr lang="en-US" altLang="zh-CN">
                    <a:latin typeface="Cambria Math" panose="02040503050406030204" charset="0"/>
                    <a:cs typeface="Cambria Math" panose="02040503050406030204" charset="0"/>
                  </a:rPr>
                  <a:t>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𝑖</m:t>
                        </m:r>
                      </m:sub>
                    </m:sSub>
                  </m:oMath>
                </a14:m>
                <a:r>
                  <a:rPr lang="zh-CN" altLang="en-US">
                    <a:latin typeface="Cambria Math" panose="02040503050406030204" charset="0"/>
                    <a:cs typeface="Cambria Math" panose="02040503050406030204" charset="0"/>
                  </a:rPr>
                  <a:t>，要么选择</a:t>
                </a:r>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某一次</a:t>
                </a:r>
                <a:r>
                  <a:rPr lang="zh-CN" altLang="en-US">
                    <a:latin typeface="Cambria Math" panose="02040503050406030204" charset="0"/>
                    <a:cs typeface="Cambria Math" panose="02040503050406030204" charset="0"/>
                  </a:rPr>
                  <a:t>操作</a:t>
                </a:r>
                <a:endParaRPr lang="zh-CN" altLang="en-US">
                  <a:latin typeface="Cambria Math" panose="02040503050406030204" charset="0"/>
                  <a:cs typeface="Cambria Math" panose="02040503050406030204" charset="0"/>
                </a:endParaRPr>
              </a:p>
              <a:p>
                <a:r>
                  <a:rPr lang="zh-CN" altLang="en-US">
                    <a:latin typeface="Cambria Math" panose="02040503050406030204" charset="0"/>
                    <a:cs typeface="Cambria Math" panose="02040503050406030204" charset="0"/>
                  </a:rPr>
                  <a:t>那么我们只需要考虑，对于每个人选择的操作，是属于前面的已经钦定过的操作，还是未曾遍历道德操作，而从前向后计算的道理就来自于限制是越来越松的，因此每次操作被钦定的第一个位置</a:t>
                </a:r>
                <a:r>
                  <a:rPr lang="zh-CN" altLang="en-US">
                    <a:latin typeface="Cambria Math" panose="02040503050406030204" charset="0"/>
                    <a:cs typeface="Cambria Math" panose="02040503050406030204" charset="0"/>
                  </a:rPr>
                  <a:t>是最重要的</a:t>
                </a:r>
                <a:endParaRPr lang="zh-CN" altLang="en-US">
                  <a:latin typeface="Cambria Math" panose="02040503050406030204" charset="0"/>
                  <a:cs typeface="Cambria Math" panose="02040503050406030204" charset="0"/>
                </a:endParaRPr>
              </a:p>
              <a:p>
                <a:r>
                  <a:rPr lang="zh-CN" altLang="en-US">
                    <a:latin typeface="Cambria Math" panose="02040503050406030204" charset="0"/>
                    <a:cs typeface="Cambria Math" panose="02040503050406030204" charset="0"/>
                  </a:rPr>
                  <a:t>那么我们考虑设计</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𝑑𝑝</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状态</a:t>
                </a:r>
                <a:r>
                  <a:rPr lang="en-US" altLang="zh-CN">
                    <a:latin typeface="Cambria Math" panose="02040503050406030204" charset="0"/>
                    <a:cs typeface="Cambria Math" panose="02040503050406030204" charset="0"/>
                  </a:rPr>
                  <a:t>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𝑓</m:t>
                        </m:r>
                      </m:e>
                      <m:sub>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𝑗</m:t>
                        </m:r>
                      </m:sub>
                    </m:sSub>
                  </m:oMath>
                </a14:m>
                <a:r>
                  <a:rPr lang="zh-CN" altLang="en-US">
                    <a:latin typeface="Cambria Math" panose="02040503050406030204" charset="0"/>
                    <a:cs typeface="Cambria Math" panose="02040503050406030204" charset="0"/>
                  </a:rPr>
                  <a:t>，表示前</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𝑖</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个位置，钦定了</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𝑗</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种本质不同的操作，转移</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𝑂</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oMath>
                </a14:m>
                <a:r>
                  <a:rPr lang="zh-CN" altLang="en-US">
                    <a:latin typeface="Cambria Math" panose="02040503050406030204" charset="0"/>
                    <a:cs typeface="Cambria Math" panose="02040503050406030204" charset="0"/>
                  </a:rPr>
                  <a:t>，那么总复杂度就是</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𝑂</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𝑛</m:t>
                        </m:r>
                      </m:e>
                      <m:sup>
                        <m:r>
                          <a:rPr lang="en-US" altLang="zh-CN" i="1">
                            <a:latin typeface="Cambria Math" panose="02040503050406030204" charset="0"/>
                            <a:cs typeface="Cambria Math" panose="02040503050406030204" charset="0"/>
                          </a:rPr>
                          <m:t>2</m:t>
                        </m:r>
                      </m:sup>
                    </m:sSup>
                    <m:r>
                      <a:rPr lang="en-US" altLang="zh-CN" i="1">
                        <a:latin typeface="Cambria Math" panose="02040503050406030204" charset="0"/>
                        <a:cs typeface="Cambria Math" panose="02040503050406030204" charset="0"/>
                      </a:rPr>
                      <m:t>)</m:t>
                    </m:r>
                  </m:oMath>
                </a14:m>
                <a:endParaRPr lang="en-US" altLang="zh-CN" i="1">
                  <a:latin typeface="Cambria Math" panose="02040503050406030204" charset="0"/>
                  <a:cs typeface="Cambria Math" panose="02040503050406030204" charset="0"/>
                </a:endParaRPr>
              </a:p>
              <a:p>
                <a:r>
                  <a:rPr lang="en-US" altLang="zh-CN">
                    <a:latin typeface="Cambria Math" panose="02040503050406030204" charset="0"/>
                    <a:cs typeface="Cambria Math" panose="02040503050406030204" charset="0"/>
                  </a:rPr>
                  <a:t>Bonus: </a:t>
                </a:r>
                <a:r>
                  <a:rPr lang="zh-CN" altLang="en-US">
                    <a:latin typeface="Cambria Math" panose="02040503050406030204" charset="0"/>
                    <a:cs typeface="Cambria Math" panose="02040503050406030204" charset="0"/>
                  </a:rPr>
                  <a:t>大家想想这个问题该怎样</a:t>
                </a:r>
                <a:r>
                  <a:rPr lang="zh-CN" altLang="en-US">
                    <a:latin typeface="Cambria Math" panose="02040503050406030204" charset="0"/>
                    <a:cs typeface="Cambria Math" panose="02040503050406030204" charset="0"/>
                  </a:rPr>
                  <a:t>加强呢？</a:t>
                </a:r>
                <a:endParaRPr lang="zh-CN" altLang="en-US">
                  <a:latin typeface="Cambria Math" panose="02040503050406030204" charset="0"/>
                  <a:cs typeface="Cambria Math" panose="02040503050406030204"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588010" y="340360"/>
                <a:ext cx="11154410" cy="5836920"/>
              </a:xfrm>
              <a:blipFill rotWithShape="1">
                <a:blip r:embed="rId1"/>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[CTT</a:t>
            </a:r>
            <a:r>
              <a:rPr lang="en-US" altLang="zh-CN"/>
              <a:t> 2024] </a:t>
            </a:r>
            <a:r>
              <a:rPr lang="zh-CN" altLang="en-US"/>
              <a:t>乘积的期望</a:t>
            </a:r>
            <a:endParaRPr lang="zh-CN" altLang="en-US"/>
          </a:p>
        </p:txBody>
      </p:sp>
      <p:pic>
        <p:nvPicPr>
          <p:cNvPr id="4" name="内容占位符 3"/>
          <p:cNvPicPr>
            <a:picLocks noChangeAspect="1"/>
          </p:cNvPicPr>
          <p:nvPr>
            <p:ph idx="1"/>
          </p:nvPr>
        </p:nvPicPr>
        <p:blipFill>
          <a:blip r:embed="rId1"/>
          <a:stretch>
            <a:fillRect/>
          </a:stretch>
        </p:blipFill>
        <p:spPr>
          <a:xfrm>
            <a:off x="838200" y="1691005"/>
            <a:ext cx="8880475" cy="3590290"/>
          </a:xfrm>
          <a:prstGeom prst="rect">
            <a:avLst/>
          </a:prstGeom>
        </p:spPr>
      </p:pic>
      <mc:AlternateContent xmlns:mc="http://schemas.openxmlformats.org/markup-compatibility/2006">
        <mc:Choice xmlns:a14="http://schemas.microsoft.com/office/drawing/2010/main" Requires="a14">
          <p:sp>
            <p:nvSpPr>
              <p:cNvPr id="7" name="文本框 6"/>
              <p:cNvSpPr txBox="1"/>
              <p:nvPr/>
            </p:nvSpPr>
            <p:spPr>
              <a:xfrm>
                <a:off x="-240665" y="5281295"/>
                <a:ext cx="4064000" cy="375285"/>
              </a:xfrm>
              <a:prstGeom prst="rect">
                <a:avLst/>
              </a:prstGeom>
              <a:noFill/>
            </p:spPr>
            <p:txBody>
              <a:bodyPr wrap="square" rtlCol="0">
                <a:noAutofit/>
              </a:bodyPr>
              <a:p>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𝑚</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𝑛</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50</m:t>
                      </m:r>
                    </m:oMath>
                  </m:oMathPara>
                </a14:m>
                <a:endParaRPr lang="zh-CN" altLang="en-US"/>
              </a:p>
            </p:txBody>
          </p:sp>
        </mc:Choice>
        <mc:Fallback>
          <p:sp>
            <p:nvSpPr>
              <p:cNvPr id="7" name="文本框 6"/>
              <p:cNvSpPr txBox="1">
                <a:spLocks noRot="1" noChangeAspect="1" noMove="1" noResize="1" noEditPoints="1" noAdjustHandles="1" noChangeArrowheads="1" noChangeShapeType="1" noTextEdit="1"/>
              </p:cNvSpPr>
              <p:nvPr/>
            </p:nvSpPr>
            <p:spPr>
              <a:xfrm>
                <a:off x="-240665" y="5281295"/>
                <a:ext cx="4064000" cy="375285"/>
              </a:xfrm>
              <a:prstGeom prst="rect">
                <a:avLst/>
              </a:prstGeom>
              <a:blipFill rotWithShape="1">
                <a:blip r:embed="rId2"/>
                <a:stretch>
                  <a:fillRect/>
                </a:stretch>
              </a:blipFill>
            </p:spPr>
            <p:txBody>
              <a:bodyPr/>
              <a:lstStyle/>
              <a:p>
                <a:r>
                  <a:rPr lang="zh-CN" altLang="en-US">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444500" y="812800"/>
                <a:ext cx="10708640" cy="5781675"/>
              </a:xfrm>
            </p:spPr>
            <p:txBody>
              <a:bodyPr/>
              <a:p>
                <a:r>
                  <a:rPr lang="zh-CN" altLang="en-US">
                    <a:latin typeface="Cambria Math" panose="02040503050406030204" charset="0"/>
                    <a:cs typeface="Cambria Math" panose="02040503050406030204" charset="0"/>
                  </a:rPr>
                  <a:t>注意到</a:t>
                </a:r>
                <a:r>
                  <a:rPr lang="en-US" altLang="zh-CN">
                    <a:latin typeface="Cambria Math" panose="02040503050406030204" charset="0"/>
                    <a:cs typeface="Cambria Math" panose="02040503050406030204" charset="0"/>
                  </a:rPr>
                  <a:t> </a:t>
                </a:r>
                <a14:m>
                  <m:oMath xmlns:m="http://schemas.openxmlformats.org/officeDocument/2006/math">
                    <m:nary>
                      <m:naryPr>
                        <m:chr m:val="∏"/>
                        <m:limLoc m:val="undOvr"/>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up>
                        <m:r>
                          <a:rPr lang="en-US" altLang="zh-CN" i="1">
                            <a:latin typeface="Cambria Math" panose="02040503050406030204" charset="0"/>
                            <a:cs typeface="Cambria Math" panose="02040503050406030204" charset="0"/>
                          </a:rPr>
                          <m:t>𝑛</m:t>
                        </m:r>
                      </m:sup>
                      <m:e>
                        <m:r>
                          <a:rPr lang="en-US" altLang="zh-CN" i="1">
                            <a:latin typeface="Cambria Math" panose="02040503050406030204" charset="0"/>
                            <a:cs typeface="Cambria Math" panose="02040503050406030204" charset="0"/>
                          </a:rPr>
                          <m:t>(</m:t>
                        </m:r>
                        <m:nary>
                          <m:naryPr>
                            <m:chr m:val="∑"/>
                            <m:limLoc m:val="undOvr"/>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up>
                            <m:r>
                              <a:rPr lang="en-US" altLang="zh-CN" i="1">
                                <a:latin typeface="Cambria Math" panose="02040503050406030204" charset="0"/>
                                <a:cs typeface="Cambria Math" panose="02040503050406030204" charset="0"/>
                              </a:rPr>
                              <m:t>𝑐</m:t>
                            </m:r>
                          </m:sup>
                          <m:e>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𝑝</m:t>
                                </m:r>
                              </m:e>
                              <m:sub>
                                <m:r>
                                  <a:rPr lang="en-US" altLang="zh-CN" i="1">
                                    <a:latin typeface="Cambria Math" panose="02040503050406030204" charset="0"/>
                                    <a:cs typeface="Cambria Math" panose="02040503050406030204" charset="0"/>
                                  </a:rPr>
                                  <m:t>𝑗</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m:t>
                            </m:r>
                          </m:e>
                        </m:nary>
                      </m:e>
                    </m:nary>
                    <m:nary>
                      <m:naryPr>
                        <m:chr m:val="∑"/>
                        <m:limLoc m:val="undOvr"/>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up>
                        <m:r>
                          <a:rPr lang="en-US" altLang="zh-CN" i="1">
                            <a:latin typeface="Cambria Math" panose="02040503050406030204" charset="0"/>
                            <a:cs typeface="Cambria Math" panose="02040503050406030204" charset="0"/>
                          </a:rPr>
                          <m:t>𝑐</m:t>
                        </m:r>
                      </m:sup>
                      <m:e>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𝑝</m:t>
                            </m:r>
                          </m:e>
                          <m:sub>
                            <m:r>
                              <a:rPr lang="en-US" altLang="zh-CN" i="1">
                                <a:latin typeface="Cambria Math" panose="02040503050406030204" charset="0"/>
                                <a:cs typeface="Cambria Math" panose="02040503050406030204" charset="0"/>
                              </a:rPr>
                              <m:t>𝑗</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𝑚</m:t>
                        </m:r>
                        <m:r>
                          <a:rPr lang="en-US" altLang="zh-CN" i="1">
                            <a:latin typeface="Cambria Math" panose="02040503050406030204" charset="0"/>
                            <a:cs typeface="Cambria Math" panose="02040503050406030204" charset="0"/>
                          </a:rPr>
                          <m:t>]</m:t>
                        </m:r>
                      </m:e>
                    </m:nary>
                    <m:r>
                      <a:rPr lang="en-US" altLang="zh-CN" i="1">
                        <a:latin typeface="Cambria Math" panose="02040503050406030204" charset="0"/>
                        <a:cs typeface="Cambria Math" panose="02040503050406030204" charset="0"/>
                      </a:rPr>
                      <m:t>)</m:t>
                    </m:r>
                  </m:oMath>
                </a14:m>
                <a:r>
                  <a:rPr lang="en-US" altLang="zh-CN"/>
                  <a:t> </a:t>
                </a:r>
                <a:r>
                  <a:rPr lang="zh-CN" altLang="en-US"/>
                  <a:t>就是答案</a:t>
                </a:r>
                <a:r>
                  <a:rPr lang="en-US" altLang="zh-CN"/>
                  <a:t> </a:t>
                </a:r>
                <a:endParaRPr lang="en-US" altLang="zh-CN"/>
              </a:p>
              <a:p>
                <a:r>
                  <a:rPr lang="zh-CN" altLang="en-US"/>
                  <a:t>考虑套用上一题的做法，那这就设计一个问题便是对于选择</a:t>
                </a:r>
                <a:r>
                  <a:rPr lang="en-US" altLang="zh-CN"/>
                  <a:t> “</a:t>
                </a:r>
                <a14:m>
                  <m:oMath xmlns:m="http://schemas.openxmlformats.org/officeDocument/2006/math">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𝑚</m:t>
                    </m:r>
                  </m:oMath>
                </a14:m>
                <a:r>
                  <a:rPr lang="en-US" altLang="zh-CN"/>
                  <a:t>” </a:t>
                </a:r>
                <a:r>
                  <a:rPr lang="zh-CN" altLang="en-US"/>
                  <a:t>的和式，我们需要在</a:t>
                </a:r>
                <a14:m>
                  <m:oMath xmlns:m="http://schemas.openxmlformats.org/officeDocument/2006/math">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𝑚</m:t>
                    </m:r>
                  </m:oMath>
                </a14:m>
                <a:r>
                  <a:rPr lang="en-US" altLang="zh-CN"/>
                  <a:t> </a:t>
                </a:r>
                <a:r>
                  <a:rPr lang="zh-CN" altLang="en-US"/>
                  <a:t>提前加入，我们在顺序遍历到它的时候如何知道它选择的哪个</a:t>
                </a:r>
                <a:r>
                  <a:rPr lang="zh-CN" altLang="en-US"/>
                  <a:t>呢？</a:t>
                </a:r>
                <a:endParaRPr lang="zh-CN" altLang="en-US"/>
              </a:p>
              <a:p>
                <a:r>
                  <a:rPr lang="zh-CN" altLang="en-US"/>
                  <a:t>因此，考虑</a:t>
                </a:r>
                <a:r>
                  <a:rPr lang="en-US" altLang="zh-CN"/>
                  <a:t> </a:t>
                </a:r>
                <a14:m>
                  <m:oMath xmlns:m="http://schemas.openxmlformats.org/officeDocument/2006/math">
                    <m:r>
                      <a:rPr lang="en-US" altLang="zh-CN" i="1">
                        <a:latin typeface="Cambria Math" panose="02040503050406030204" charset="0"/>
                        <a:cs typeface="Cambria Math" panose="02040503050406030204" charset="0"/>
                      </a:rPr>
                      <m:t>𝑑𝑝</m:t>
                    </m:r>
                  </m:oMath>
                </a14:m>
                <a:r>
                  <a:rPr lang="en-US" altLang="zh-CN"/>
                  <a:t> </a:t>
                </a:r>
                <a:r>
                  <a:rPr lang="zh-CN" altLang="en-US"/>
                  <a:t>状态</a:t>
                </a:r>
                <a:r>
                  <a:rPr lang="en-US" altLang="zh-CN"/>
                  <a:t>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𝑓</m:t>
                        </m:r>
                      </m:e>
                      <m:sub>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𝑠𝑡𝑎</m:t>
                        </m:r>
                      </m:sub>
                    </m:sSub>
                  </m:oMath>
                </a14:m>
                <a:r>
                  <a:rPr lang="zh-CN" altLang="en-US">
                    <a:latin typeface="Cambria Math" panose="02040503050406030204" charset="0"/>
                    <a:cs typeface="Cambria Math" panose="02040503050406030204" charset="0"/>
                  </a:rPr>
                  <a:t>，分别表示遍历到第</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𝑖</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个的时候，加入了</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𝑗</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个本质不同的操作，其中</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𝑠𝑡𝑎</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表示</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𝑚</m:t>
                    </m:r>
                    <m:r>
                      <a:rPr lang="en-US" altLang="zh-CN" i="1">
                        <a:latin typeface="Cambria Math" panose="02040503050406030204" charset="0"/>
                        <a:cs typeface="Cambria Math" panose="02040503050406030204" charset="0"/>
                      </a:rPr>
                      <m:t>]</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这些人是否选择了在</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𝑚</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处加入，这样总体的复杂度就是</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𝑂</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𝑛</m:t>
                        </m:r>
                      </m:e>
                      <m:sup>
                        <m:r>
                          <a:rPr lang="en-US" altLang="zh-CN" i="1">
                            <a:latin typeface="Cambria Math" panose="02040503050406030204" charset="0"/>
                            <a:cs typeface="Cambria Math" panose="02040503050406030204" charset="0"/>
                          </a:rPr>
                          <m:t>2</m:t>
                        </m:r>
                      </m:sup>
                    </m:sSup>
                    <m:r>
                      <a:rPr lang="en-US" altLang="zh-CN" i="1">
                        <a:latin typeface="Cambria Math" panose="02040503050406030204" charset="0"/>
                        <a:cs typeface="Cambria Math" panose="02040503050406030204" charset="0"/>
                      </a:rPr>
                      <m:t> </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2</m:t>
                        </m:r>
                      </m:e>
                      <m:sup>
                        <m:f>
                          <m:fPr>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𝑛</m:t>
                            </m:r>
                          </m:num>
                          <m:den>
                            <m:r>
                              <a:rPr lang="en-US" altLang="zh-CN" i="1">
                                <a:latin typeface="Cambria Math" panose="02040503050406030204" charset="0"/>
                                <a:cs typeface="Cambria Math" panose="02040503050406030204" charset="0"/>
                              </a:rPr>
                              <m:t>2</m:t>
                            </m:r>
                          </m:den>
                        </m:f>
                      </m:sup>
                    </m:sSup>
                    <m:r>
                      <a:rPr lang="en-US" altLang="zh-CN" i="1">
                        <a:latin typeface="Cambria Math" panose="02040503050406030204" charset="0"/>
                        <a:cs typeface="Cambria Math" panose="02040503050406030204" charset="0"/>
                      </a:rPr>
                      <m:t>)</m:t>
                    </m:r>
                  </m:oMath>
                </a14:m>
                <a:r>
                  <a:rPr lang="zh-CN" altLang="en-US">
                    <a:latin typeface="Cambria Math" panose="02040503050406030204" charset="0"/>
                    <a:cs typeface="Cambria Math" panose="02040503050406030204" charset="0"/>
                  </a:rPr>
                  <a:t>，这是因为需要记录的</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𝑠𝑡𝑎</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最多大小为</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𝑚𝑖𝑛</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𝑚</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𝑛</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𝑚</m:t>
                    </m:r>
                    <m:r>
                      <a:rPr lang="en-US" altLang="zh-CN" i="1">
                        <a:latin typeface="Cambria Math" panose="02040503050406030204" charset="0"/>
                        <a:cs typeface="Cambria Math" panose="02040503050406030204" charset="0"/>
                      </a:rPr>
                      <m:t>)</m:t>
                    </m:r>
                  </m:oMath>
                </a14:m>
                <a:endParaRPr lang="en-US" altLang="zh-CN" i="1">
                  <a:latin typeface="Cambria Math" panose="02040503050406030204" charset="0"/>
                  <a:cs typeface="Cambria Math" panose="02040503050406030204" charset="0"/>
                </a:endParaRPr>
              </a:p>
              <a:p>
                <a:r>
                  <a:rPr lang="zh-CN" altLang="en-US">
                    <a:latin typeface="Cambria Math" panose="02040503050406030204" charset="0"/>
                    <a:cs typeface="Cambria Math" panose="02040503050406030204" charset="0"/>
                  </a:rPr>
                  <a:t>但是这依然无法通过更大的情况，对于</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𝑚</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较大（</a:t>
                </a:r>
                <a14:m>
                  <m:oMath xmlns:m="http://schemas.openxmlformats.org/officeDocument/2006/math">
                    <m:r>
                      <a:rPr lang="en-US" altLang="zh-CN" i="1">
                        <a:latin typeface="Cambria Math" panose="02040503050406030204" charset="0"/>
                        <a:cs typeface="Cambria Math" panose="02040503050406030204" charset="0"/>
                      </a:rPr>
                      <m:t>≥</m:t>
                    </m:r>
                    <m:f>
                      <m:fPr>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𝑛</m:t>
                        </m:r>
                      </m:num>
                      <m:den>
                        <m:r>
                          <a:rPr lang="en-US" altLang="zh-CN" i="1">
                            <a:latin typeface="Cambria Math" panose="02040503050406030204" charset="0"/>
                            <a:cs typeface="Cambria Math" panose="02040503050406030204" charset="0"/>
                          </a:rPr>
                          <m:t>3</m:t>
                        </m:r>
                      </m:den>
                    </m:f>
                  </m:oMath>
                </a14:m>
                <a:r>
                  <a:rPr lang="zh-CN" altLang="en-US">
                    <a:latin typeface="Cambria Math" panose="02040503050406030204" charset="0"/>
                    <a:cs typeface="Cambria Math" panose="02040503050406030204" charset="0"/>
                  </a:rPr>
                  <a:t>）的情况，是否有更优秀的</a:t>
                </a:r>
                <a:r>
                  <a:rPr lang="zh-CN" altLang="en-US">
                    <a:latin typeface="Cambria Math" panose="02040503050406030204" charset="0"/>
                    <a:cs typeface="Cambria Math" panose="02040503050406030204" charset="0"/>
                  </a:rPr>
                  <a:t>做法呢？</a:t>
                </a:r>
                <a:endParaRPr lang="zh-CN" altLang="en-US">
                  <a:latin typeface="Cambria Math" panose="02040503050406030204" charset="0"/>
                  <a:cs typeface="Cambria Math" panose="02040503050406030204"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444500" y="812800"/>
                <a:ext cx="10708640" cy="5781675"/>
              </a:xfrm>
              <a:blipFill rotWithShape="1">
                <a:blip r:embed="rId1"/>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stretch>
            <a:fillRect/>
          </a:stretch>
        </p:blipFill>
        <p:spPr>
          <a:xfrm>
            <a:off x="3512185" y="140970"/>
            <a:ext cx="4490085" cy="3789045"/>
          </a:xfrm>
          <a:prstGeom prst="rect">
            <a:avLst/>
          </a:prstGeom>
        </p:spPr>
      </p:pic>
      <mc:AlternateContent xmlns:mc="http://schemas.openxmlformats.org/markup-compatibility/2006">
        <mc:Choice xmlns:a14="http://schemas.microsoft.com/office/drawing/2010/main" Requires="a14">
          <p:sp>
            <p:nvSpPr>
              <p:cNvPr id="5" name="文本框 4"/>
              <p:cNvSpPr txBox="1"/>
              <p:nvPr/>
            </p:nvSpPr>
            <p:spPr>
              <a:xfrm>
                <a:off x="483870" y="4083685"/>
                <a:ext cx="11362690" cy="2378710"/>
              </a:xfrm>
              <a:prstGeom prst="rect">
                <a:avLst/>
              </a:prstGeom>
              <a:noFill/>
            </p:spPr>
            <p:txBody>
              <a:bodyPr wrap="square" rtlCol="0">
                <a:noAutofit/>
              </a:bodyPr>
              <a:p>
                <a:pPr marL="285750" indent="-285750">
                  <a:buFont typeface="Arial" panose="020B0604020202090204" pitchFamily="34" charset="0"/>
                  <a:buChar char="•"/>
                </a:pPr>
                <a:r>
                  <a:rPr lang="zh-CN" altLang="en-US" sz="2400"/>
                  <a:t>考虑这样一张图，我们把决策之间相关联的点写作连了边，那么注意到，只要枚举了</a:t>
                </a:r>
                <a:r>
                  <a:rPr lang="en-US" altLang="zh-CN" sz="2400"/>
                  <a:t> x </a:t>
                </a:r>
                <a:r>
                  <a:rPr lang="zh-CN" altLang="en-US" sz="2400"/>
                  <a:t>和</a:t>
                </a:r>
                <a:r>
                  <a:rPr lang="en-US" altLang="zh-CN" sz="2400"/>
                  <a:t> y</a:t>
                </a:r>
                <a:r>
                  <a:rPr lang="zh-CN" altLang="en-US" sz="2400"/>
                  <a:t>，就可以直接从上到下顺序</a:t>
                </a:r>
                <a:r>
                  <a:rPr lang="en-US" altLang="zh-CN" sz="2400"/>
                  <a:t> </a:t>
                </a:r>
                <a14:m>
                  <m:oMath xmlns:m="http://schemas.openxmlformats.org/officeDocument/2006/math">
                    <m:r>
                      <a:rPr lang="en-US" altLang="zh-CN" sz="2400" i="1">
                        <a:latin typeface="Cambria Math" panose="02040503050406030204" charset="0"/>
                        <a:cs typeface="Cambria Math" panose="02040503050406030204" charset="0"/>
                      </a:rPr>
                      <m:t>𝑑𝑝</m:t>
                    </m:r>
                  </m:oMath>
                </a14:m>
                <a:r>
                  <a:rPr lang="zh-CN" altLang="en-US" sz="2400">
                    <a:latin typeface="Cambria Math" panose="02040503050406030204" charset="0"/>
                    <a:cs typeface="Cambria Math" panose="02040503050406030204" charset="0"/>
                  </a:rPr>
                  <a:t>，考虑到</a:t>
                </a:r>
                <a:r>
                  <a:rPr lang="en-US" altLang="zh-CN" sz="2400">
                    <a:latin typeface="Cambria Math" panose="02040503050406030204" charset="0"/>
                    <a:cs typeface="Cambria Math" panose="02040503050406030204" charset="0"/>
                  </a:rPr>
                  <a:t> </a:t>
                </a:r>
                <a14:m>
                  <m:oMath xmlns:m="http://schemas.openxmlformats.org/officeDocument/2006/math">
                    <m:r>
                      <a:rPr lang="en-US" altLang="zh-CN" sz="2400" i="1">
                        <a:latin typeface="Cambria Math" panose="02040503050406030204" charset="0"/>
                        <a:cs typeface="Cambria Math" panose="02040503050406030204" charset="0"/>
                      </a:rPr>
                      <m:t>𝑑𝑝</m:t>
                    </m:r>
                  </m:oMath>
                </a14:m>
                <a:r>
                  <a:rPr lang="en-US" altLang="zh-CN" sz="2400">
                    <a:latin typeface="Cambria Math" panose="02040503050406030204" charset="0"/>
                    <a:cs typeface="Cambria Math" panose="02040503050406030204" charset="0"/>
                  </a:rPr>
                  <a:t> </a:t>
                </a:r>
                <a:r>
                  <a:rPr lang="zh-CN" altLang="en-US" sz="2400">
                    <a:latin typeface="Cambria Math" panose="02040503050406030204" charset="0"/>
                    <a:cs typeface="Cambria Math" panose="02040503050406030204" charset="0"/>
                  </a:rPr>
                  <a:t>状态为</a:t>
                </a:r>
                <a:r>
                  <a:rPr lang="en-US" altLang="zh-CN" sz="2400">
                    <a:latin typeface="Cambria Math" panose="02040503050406030204" charset="0"/>
                    <a:cs typeface="Cambria Math" panose="02040503050406030204" charset="0"/>
                  </a:rPr>
                  <a:t> </a:t>
                </a:r>
                <a14:m>
                  <m:oMath xmlns:m="http://schemas.openxmlformats.org/officeDocument/2006/math">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𝑓</m:t>
                        </m:r>
                      </m:e>
                      <m:sub>
                        <m:r>
                          <a:rPr lang="en-US" altLang="zh-CN" sz="2400" i="1">
                            <a:latin typeface="Cambria Math" panose="02040503050406030204" charset="0"/>
                            <a:cs typeface="Cambria Math" panose="02040503050406030204" charset="0"/>
                          </a:rPr>
                          <m:t>𝑖</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𝑗</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𝑘</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𝑙</m:t>
                        </m:r>
                      </m:sub>
                    </m:sSub>
                  </m:oMath>
                </a14:m>
                <a:r>
                  <a:rPr lang="zh-CN" altLang="en-US" sz="2400">
                    <a:latin typeface="Cambria Math" panose="02040503050406030204" charset="0"/>
                    <a:cs typeface="Cambria Math" panose="02040503050406030204" charset="0"/>
                  </a:rPr>
                  <a:t>，这表示遍历了</a:t>
                </a:r>
                <a:r>
                  <a:rPr lang="en-US" altLang="zh-CN" sz="2400">
                    <a:latin typeface="Cambria Math" panose="02040503050406030204" charset="0"/>
                    <a:cs typeface="Cambria Math" panose="02040503050406030204" charset="0"/>
                  </a:rPr>
                  <a:t> </a:t>
                </a:r>
                <a14:m>
                  <m:oMath xmlns:m="http://schemas.openxmlformats.org/officeDocument/2006/math">
                    <m:r>
                      <a:rPr lang="en-US" altLang="zh-CN" sz="2400" i="1">
                        <a:latin typeface="Cambria Math" panose="02040503050406030204" charset="0"/>
                        <a:cs typeface="Cambria Math" panose="02040503050406030204" charset="0"/>
                      </a:rPr>
                      <m:t>𝑖</m:t>
                    </m:r>
                  </m:oMath>
                </a14:m>
                <a:r>
                  <a:rPr lang="en-US" altLang="zh-CN" sz="2400">
                    <a:latin typeface="Cambria Math" panose="02040503050406030204" charset="0"/>
                    <a:cs typeface="Cambria Math" panose="02040503050406030204" charset="0"/>
                  </a:rPr>
                  <a:t> </a:t>
                </a:r>
                <a:r>
                  <a:rPr lang="zh-CN" altLang="en-US" sz="2400">
                    <a:latin typeface="Cambria Math" panose="02040503050406030204" charset="0"/>
                    <a:cs typeface="Cambria Math" panose="02040503050406030204" charset="0"/>
                  </a:rPr>
                  <a:t>组点，三列点的前缀分别钦定了多少个本质不同的操作，这样可以做到最大</a:t>
                </a:r>
                <a:r>
                  <a:rPr lang="en-US" altLang="zh-CN" sz="2400">
                    <a:latin typeface="Cambria Math" panose="02040503050406030204" charset="0"/>
                    <a:cs typeface="Cambria Math" panose="02040503050406030204" charset="0"/>
                  </a:rPr>
                  <a:t> </a:t>
                </a:r>
                <a14:m>
                  <m:oMath xmlns:m="http://schemas.openxmlformats.org/officeDocument/2006/math">
                    <m:r>
                      <a:rPr lang="en-US" altLang="zh-CN" sz="2400" i="1">
                        <a:latin typeface="Cambria Math" panose="02040503050406030204" charset="0"/>
                        <a:cs typeface="Cambria Math" panose="02040503050406030204" charset="0"/>
                      </a:rPr>
                      <m:t>𝑂</m:t>
                    </m:r>
                    <m:r>
                      <a:rPr lang="en-US" altLang="zh-CN" sz="2400" i="1">
                        <a:latin typeface="Cambria Math" panose="02040503050406030204" charset="0"/>
                        <a:cs typeface="Cambria Math" panose="02040503050406030204" charset="0"/>
                      </a:rPr>
                      <m:t>(</m:t>
                    </m:r>
                    <m:sSup>
                      <m:sSupPr>
                        <m:ctrlPr>
                          <a:rPr lang="en-US" altLang="zh-CN" sz="2400" i="1">
                            <a:latin typeface="Cambria Math" panose="02040503050406030204" charset="0"/>
                            <a:cs typeface="Cambria Math" panose="02040503050406030204" charset="0"/>
                          </a:rPr>
                        </m:ctrlPr>
                      </m:sSupPr>
                      <m:e>
                        <m:r>
                          <a:rPr lang="en-US" altLang="zh-CN" sz="2400" i="1">
                            <a:latin typeface="Cambria Math" panose="02040503050406030204" charset="0"/>
                            <a:cs typeface="Cambria Math" panose="02040503050406030204" charset="0"/>
                          </a:rPr>
                          <m:t>𝑛</m:t>
                        </m:r>
                      </m:e>
                      <m:sup>
                        <m:r>
                          <a:rPr lang="en-US" altLang="zh-CN" sz="2400" i="1">
                            <a:latin typeface="Cambria Math" panose="02040503050406030204" charset="0"/>
                            <a:cs typeface="Cambria Math" panose="02040503050406030204" charset="0"/>
                          </a:rPr>
                          <m:t>6</m:t>
                        </m:r>
                      </m:sup>
                    </m:sSup>
                    <m:r>
                      <a:rPr lang="en-US" altLang="zh-CN" sz="2400" i="1">
                        <a:latin typeface="Cambria Math" panose="02040503050406030204" charset="0"/>
                        <a:cs typeface="Cambria Math" panose="02040503050406030204" charset="0"/>
                      </a:rPr>
                      <m:t>)</m:t>
                    </m:r>
                  </m:oMath>
                </a14:m>
                <a:r>
                  <a:rPr lang="en-US" altLang="zh-CN" sz="2400">
                    <a:latin typeface="Cambria Math" panose="02040503050406030204" charset="0"/>
                    <a:cs typeface="Cambria Math" panose="02040503050406030204" charset="0"/>
                  </a:rPr>
                  <a:t> </a:t>
                </a:r>
                <a:r>
                  <a:rPr lang="zh-CN" altLang="en-US" sz="2400">
                    <a:latin typeface="Cambria Math" panose="02040503050406030204" charset="0"/>
                    <a:cs typeface="Cambria Math" panose="02040503050406030204" charset="0"/>
                  </a:rPr>
                  <a:t>的复杂度</a:t>
                </a:r>
                <a:endParaRPr lang="zh-CN" altLang="en-US" sz="2400">
                  <a:latin typeface="Cambria Math" panose="02040503050406030204" charset="0"/>
                  <a:cs typeface="Cambria Math" panose="02040503050406030204" charset="0"/>
                </a:endParaRPr>
              </a:p>
              <a:p>
                <a:pPr marL="285750" indent="-285750">
                  <a:buFont typeface="Arial" panose="020B0604020202090204" pitchFamily="34" charset="0"/>
                  <a:buChar char="•"/>
                </a:pPr>
                <a:r>
                  <a:rPr lang="zh-CN" altLang="en-US" sz="2400">
                    <a:latin typeface="Cambria Math" panose="02040503050406030204" charset="0"/>
                    <a:cs typeface="Cambria Math" panose="02040503050406030204" charset="0"/>
                  </a:rPr>
                  <a:t>综上所述，本题目的总复杂度可以做到</a:t>
                </a:r>
                <a:r>
                  <a:rPr lang="en-US" altLang="zh-CN" sz="2400">
                    <a:latin typeface="Cambria Math" panose="02040503050406030204" charset="0"/>
                    <a:cs typeface="Cambria Math" panose="02040503050406030204" charset="0"/>
                  </a:rPr>
                  <a:t> </a:t>
                </a:r>
                <a14:m>
                  <m:oMath xmlns:m="http://schemas.openxmlformats.org/officeDocument/2006/math">
                    <m:r>
                      <a:rPr lang="en-US" altLang="zh-CN" sz="2400" i="1">
                        <a:latin typeface="Cambria Math" panose="02040503050406030204" charset="0"/>
                        <a:cs typeface="Cambria Math" panose="02040503050406030204" charset="0"/>
                      </a:rPr>
                      <m:t>𝑂</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𝑚𝑎𝑥</m:t>
                    </m:r>
                    <m:r>
                      <a:rPr lang="en-US" altLang="zh-CN" sz="2400" i="1">
                        <a:latin typeface="Cambria Math" panose="02040503050406030204" charset="0"/>
                        <a:cs typeface="Cambria Math" panose="02040503050406030204" charset="0"/>
                      </a:rPr>
                      <m:t>(</m:t>
                    </m:r>
                    <m:sSup>
                      <m:sSupPr>
                        <m:ctrlPr>
                          <a:rPr lang="en-US" altLang="zh-CN" sz="2400" i="1">
                            <a:latin typeface="Cambria Math" panose="02040503050406030204" charset="0"/>
                            <a:cs typeface="Cambria Math" panose="02040503050406030204" charset="0"/>
                          </a:rPr>
                        </m:ctrlPr>
                      </m:sSupPr>
                      <m:e>
                        <m:r>
                          <a:rPr lang="en-US" altLang="zh-CN" sz="2400" i="1">
                            <a:latin typeface="Cambria Math" panose="02040503050406030204" charset="0"/>
                            <a:cs typeface="Cambria Math" panose="02040503050406030204" charset="0"/>
                          </a:rPr>
                          <m:t>𝑛</m:t>
                        </m:r>
                      </m:e>
                      <m:sup>
                        <m:r>
                          <a:rPr lang="en-US" altLang="zh-CN" sz="2400" i="1">
                            <a:latin typeface="Cambria Math" panose="02040503050406030204" charset="0"/>
                            <a:cs typeface="Cambria Math" panose="02040503050406030204" charset="0"/>
                          </a:rPr>
                          <m:t>2</m:t>
                        </m:r>
                      </m:sup>
                    </m:sSup>
                    <m:r>
                      <a:rPr lang="en-US" altLang="zh-CN" sz="2400" i="1">
                        <a:latin typeface="Cambria Math" panose="02040503050406030204" charset="0"/>
                        <a:cs typeface="Cambria Math" panose="02040503050406030204" charset="0"/>
                      </a:rPr>
                      <m:t> </m:t>
                    </m:r>
                    <m:sSup>
                      <m:sSupPr>
                        <m:ctrlPr>
                          <a:rPr lang="en-US" altLang="zh-CN" sz="2400" i="1">
                            <a:latin typeface="Cambria Math" panose="02040503050406030204" charset="0"/>
                            <a:cs typeface="Cambria Math" panose="02040503050406030204" charset="0"/>
                          </a:rPr>
                        </m:ctrlPr>
                      </m:sSupPr>
                      <m:e>
                        <m:r>
                          <a:rPr lang="en-US" altLang="zh-CN" sz="2400" i="1">
                            <a:latin typeface="Cambria Math" panose="02040503050406030204" charset="0"/>
                            <a:cs typeface="Cambria Math" panose="02040503050406030204" charset="0"/>
                          </a:rPr>
                          <m:t>2</m:t>
                        </m:r>
                      </m:e>
                      <m:sup>
                        <m:f>
                          <m:fPr>
                            <m:ctrlPr>
                              <a:rPr lang="en-US" altLang="zh-CN" sz="2400" i="1">
                                <a:latin typeface="Cambria Math" panose="02040503050406030204" charset="0"/>
                                <a:cs typeface="Cambria Math" panose="02040503050406030204" charset="0"/>
                              </a:rPr>
                            </m:ctrlPr>
                          </m:fPr>
                          <m:num>
                            <m:r>
                              <a:rPr lang="en-US" altLang="zh-CN" sz="2400" i="1">
                                <a:latin typeface="Cambria Math" panose="02040503050406030204" charset="0"/>
                                <a:cs typeface="Cambria Math" panose="02040503050406030204" charset="0"/>
                              </a:rPr>
                              <m:t>𝑛</m:t>
                            </m:r>
                          </m:num>
                          <m:den>
                            <m:r>
                              <a:rPr lang="en-US" altLang="zh-CN" sz="2400" i="1">
                                <a:latin typeface="Cambria Math" panose="02040503050406030204" charset="0"/>
                                <a:cs typeface="Cambria Math" panose="02040503050406030204" charset="0"/>
                              </a:rPr>
                              <m:t>3</m:t>
                            </m:r>
                          </m:den>
                        </m:f>
                      </m:sup>
                    </m:sSup>
                    <m:r>
                      <a:rPr lang="en-US" altLang="zh-CN" sz="2400" i="1">
                        <a:latin typeface="Cambria Math" panose="02040503050406030204" charset="0"/>
                        <a:cs typeface="Cambria Math" panose="02040503050406030204" charset="0"/>
                      </a:rPr>
                      <m:t>,</m:t>
                    </m:r>
                    <m:sSup>
                      <m:sSupPr>
                        <m:ctrlPr>
                          <a:rPr lang="en-US" altLang="zh-CN" sz="2400" i="1">
                            <a:latin typeface="Cambria Math" panose="02040503050406030204" charset="0"/>
                            <a:cs typeface="Cambria Math" panose="02040503050406030204" charset="0"/>
                          </a:rPr>
                        </m:ctrlPr>
                      </m:sSupPr>
                      <m:e>
                        <m:r>
                          <a:rPr lang="en-US" altLang="zh-CN" sz="2400" i="1">
                            <a:latin typeface="Cambria Math" panose="02040503050406030204" charset="0"/>
                            <a:cs typeface="Cambria Math" panose="02040503050406030204" charset="0"/>
                          </a:rPr>
                          <m:t>𝑛</m:t>
                        </m:r>
                      </m:e>
                      <m:sup>
                        <m:r>
                          <a:rPr lang="en-US" altLang="zh-CN" sz="2400" i="1">
                            <a:latin typeface="Cambria Math" panose="02040503050406030204" charset="0"/>
                            <a:cs typeface="Cambria Math" panose="02040503050406030204" charset="0"/>
                          </a:rPr>
                          <m:t>6</m:t>
                        </m:r>
                      </m:sup>
                    </m:sSup>
                    <m:r>
                      <a:rPr lang="en-US" altLang="zh-CN" sz="2400" i="1">
                        <a:latin typeface="Cambria Math" panose="02040503050406030204" charset="0"/>
                        <a:cs typeface="Cambria Math" panose="02040503050406030204" charset="0"/>
                      </a:rPr>
                      <m:t>))</m:t>
                    </m:r>
                  </m:oMath>
                </a14:m>
                <a:endParaRPr lang="en-US" altLang="zh-CN" sz="2400">
                  <a:latin typeface="Cambria Math" panose="02040503050406030204" charset="0"/>
                  <a:cs typeface="Cambria Math" panose="02040503050406030204"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483870" y="4083685"/>
                <a:ext cx="11362690" cy="2378710"/>
              </a:xfrm>
              <a:prstGeom prst="rect">
                <a:avLst/>
              </a:prstGeom>
              <a:blipFill rotWithShape="1">
                <a:blip r:embed="rId2"/>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75920" y="365125"/>
            <a:ext cx="10515600" cy="1325563"/>
          </a:xfrm>
        </p:spPr>
        <p:txBody>
          <a:bodyPr/>
          <a:p>
            <a:r>
              <a:rPr lang="en-US" altLang="zh-CN"/>
              <a:t>CF1774G Segment Covering</a:t>
            </a:r>
            <a:endParaRPr lang="en-US" altLang="zh-CN"/>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316865" y="1825625"/>
                <a:ext cx="11036935" cy="4351655"/>
              </a:xfrm>
            </p:spPr>
            <p:txBody>
              <a:bodyPr/>
              <a:p>
                <a:pPr marL="0" indent="0">
                  <a:buNone/>
                </a:pPr>
                <a:r>
                  <a:rPr lang="en-US" altLang="zh-CN"/>
                  <a:t> </a:t>
                </a:r>
                <a:r>
                  <a:rPr lang="zh-CN" altLang="en-US"/>
                  <a:t>一条数轴，上面有</a:t>
                </a:r>
                <a:r>
                  <a:rPr lang="en-US" altLang="zh-CN"/>
                  <a:t> </a:t>
                </a:r>
                <a:r>
                  <a:rPr lang="en-US" altLang="zh-CN">
                    <a:latin typeface="Cambria Math" panose="02040503050406030204" charset="0"/>
                    <a:cs typeface="Cambria Math" panose="02040503050406030204" charset="0"/>
                  </a:rPr>
                  <a:t>m</a:t>
                </a:r>
                <a:r>
                  <a:rPr lang="en-US" altLang="zh-CN"/>
                  <a:t> </a:t>
                </a:r>
                <a:r>
                  <a:rPr lang="zh-CN" altLang="en-US"/>
                  <a:t>个互不相同的线段。设</a:t>
                </a:r>
                <a:r>
                  <a:rPr lang="en-US" altLang="zh-CN"/>
                  <a:t> </a:t>
                </a:r>
                <a14:m>
                  <m:oMath xmlns:m="http://schemas.openxmlformats.org/officeDocument/2006/math">
                    <m:r>
                      <m:rPr>
                        <m:sty m:val="p"/>
                      </m:rPr>
                      <a:rPr lang="en-US" altLang="zh-CN">
                        <a:latin typeface="Cambria Math" panose="02040503050406030204" charset="0"/>
                        <a:cs typeface="Cambria Math" panose="02040503050406030204" charset="0"/>
                      </a:rPr>
                      <m:t>f</m:t>
                    </m:r>
                    <m:r>
                      <a:rPr lang="en-US" altLang="zh-CN">
                        <a:latin typeface="Cambria Math" panose="02040503050406030204" charset="0"/>
                        <a:cs typeface="Cambria Math" panose="02040503050406030204" charset="0"/>
                      </a:rPr>
                      <m:t>(</m:t>
                    </m:r>
                    <m:r>
                      <m:rPr>
                        <m:sty m:val="p"/>
                      </m:rPr>
                      <a:rPr lang="en-US" altLang="zh-CN">
                        <a:latin typeface="Cambria Math" panose="02040503050406030204" charset="0"/>
                        <a:cs typeface="Cambria Math" panose="02040503050406030204" charset="0"/>
                      </a:rPr>
                      <m:t>l</m:t>
                    </m:r>
                    <m:r>
                      <a:rPr lang="en-US" altLang="zh-CN">
                        <a:latin typeface="Cambria Math" panose="02040503050406030204" charset="0"/>
                        <a:cs typeface="Cambria Math" panose="02040503050406030204" charset="0"/>
                      </a:rPr>
                      <m:t>,</m:t>
                    </m:r>
                    <m:r>
                      <m:rPr>
                        <m:sty m:val="p"/>
                      </m:rPr>
                      <a:rPr lang="en-US" altLang="zh-CN">
                        <a:latin typeface="Cambria Math" panose="02040503050406030204" charset="0"/>
                        <a:cs typeface="Cambria Math" panose="02040503050406030204" charset="0"/>
                      </a:rPr>
                      <m:t>r</m:t>
                    </m:r>
                    <m:r>
                      <a:rPr lang="en-US" altLang="zh-CN">
                        <a:latin typeface="Cambria Math" panose="02040503050406030204" charset="0"/>
                        <a:cs typeface="Cambria Math" panose="02040503050406030204" charset="0"/>
                      </a:rPr>
                      <m:t>)</m:t>
                    </m:r>
                  </m:oMath>
                </a14:m>
                <a:r>
                  <a:rPr lang="en-US" altLang="zh-CN"/>
                  <a:t> </a:t>
                </a:r>
                <a:r>
                  <a:rPr lang="zh-CN" altLang="en-US"/>
                  <a:t>表示选择偶数个线段，使得它们的并恰好为</a:t>
                </a:r>
                <a:r>
                  <a:rPr lang="en-US" altLang="zh-CN"/>
                  <a:t> </a:t>
                </a:r>
                <a14:m>
                  <m:oMath xmlns:m="http://schemas.openxmlformats.org/officeDocument/2006/math">
                    <m:r>
                      <a:rPr lang="en-US" altLang="zh-CN">
                        <a:latin typeface="Cambria Math" panose="02040503050406030204" charset="0"/>
                        <a:cs typeface="Cambria Math" panose="02040503050406030204" charset="0"/>
                      </a:rPr>
                      <m:t>[</m:t>
                    </m:r>
                    <m:r>
                      <m:rPr>
                        <m:sty m:val="p"/>
                      </m:rPr>
                      <a:rPr lang="en-US" altLang="zh-CN">
                        <a:latin typeface="Cambria Math" panose="02040503050406030204" charset="0"/>
                        <a:cs typeface="Cambria Math" panose="02040503050406030204" charset="0"/>
                      </a:rPr>
                      <m:t>l</m:t>
                    </m:r>
                    <m:r>
                      <a:rPr lang="en-US" altLang="zh-CN">
                        <a:latin typeface="Cambria Math" panose="02040503050406030204" charset="0"/>
                        <a:cs typeface="Cambria Math" panose="02040503050406030204" charset="0"/>
                      </a:rPr>
                      <m:t>,</m:t>
                    </m:r>
                    <m:r>
                      <m:rPr>
                        <m:sty m:val="p"/>
                      </m:rPr>
                      <a:rPr lang="en-US" altLang="zh-CN">
                        <a:latin typeface="Cambria Math" panose="02040503050406030204" charset="0"/>
                        <a:cs typeface="Cambria Math" panose="02040503050406030204" charset="0"/>
                      </a:rPr>
                      <m:t>r</m:t>
                    </m:r>
                    <m:r>
                      <a:rPr lang="en-US" altLang="zh-CN">
                        <a:latin typeface="Cambria Math" panose="02040503050406030204" charset="0"/>
                        <a:cs typeface="Cambria Math" panose="02040503050406030204" charset="0"/>
                      </a:rPr>
                      <m:t>]</m:t>
                    </m:r>
                  </m:oMath>
                </a14:m>
                <a:r>
                  <a:rPr lang="en-US" altLang="zh-CN"/>
                  <a:t> </a:t>
                </a:r>
                <a:r>
                  <a:rPr lang="zh-CN" altLang="en-US"/>
                  <a:t>的方案数，</a:t>
                </a:r>
                <a14:m>
                  <m:oMath xmlns:m="http://schemas.openxmlformats.org/officeDocument/2006/math">
                    <m:r>
                      <m:rPr>
                        <m:sty m:val="p"/>
                      </m:rPr>
                      <a:rPr lang="en-US" altLang="zh-CN">
                        <a:latin typeface="Cambria Math" panose="02040503050406030204" charset="0"/>
                        <a:cs typeface="Cambria Math" panose="02040503050406030204" charset="0"/>
                      </a:rPr>
                      <m:t>g</m:t>
                    </m:r>
                    <m:r>
                      <a:rPr lang="en-US" altLang="zh-CN">
                        <a:latin typeface="Cambria Math" panose="02040503050406030204" charset="0"/>
                        <a:cs typeface="Cambria Math" panose="02040503050406030204" charset="0"/>
                      </a:rPr>
                      <m:t>(</m:t>
                    </m:r>
                    <m:r>
                      <m:rPr>
                        <m:sty m:val="p"/>
                      </m:rPr>
                      <a:rPr lang="en-US" altLang="zh-CN">
                        <a:latin typeface="Cambria Math" panose="02040503050406030204" charset="0"/>
                        <a:cs typeface="Cambria Math" panose="02040503050406030204" charset="0"/>
                      </a:rPr>
                      <m:t>l</m:t>
                    </m:r>
                    <m:r>
                      <a:rPr lang="en-US" altLang="zh-CN">
                        <a:latin typeface="Cambria Math" panose="02040503050406030204" charset="0"/>
                        <a:cs typeface="Cambria Math" panose="02040503050406030204" charset="0"/>
                      </a:rPr>
                      <m:t>,</m:t>
                    </m:r>
                    <m:r>
                      <m:rPr>
                        <m:sty m:val="p"/>
                      </m:rPr>
                      <a:rPr lang="en-US" altLang="zh-CN">
                        <a:latin typeface="Cambria Math" panose="02040503050406030204" charset="0"/>
                        <a:cs typeface="Cambria Math" panose="02040503050406030204" charset="0"/>
                      </a:rPr>
                      <m:t>r</m:t>
                    </m:r>
                    <m:r>
                      <a:rPr lang="en-US" altLang="zh-CN">
                        <a:latin typeface="Cambria Math" panose="02040503050406030204" charset="0"/>
                        <a:cs typeface="Cambria Math" panose="02040503050406030204" charset="0"/>
                      </a:rPr>
                      <m:t>)</m:t>
                    </m:r>
                  </m:oMath>
                </a14:m>
                <a:r>
                  <a:rPr lang="en-US" altLang="zh-CN"/>
                  <a:t> </a:t>
                </a:r>
                <a:r>
                  <a:rPr lang="zh-CN" altLang="en-US"/>
                  <a:t>表示选择奇数个线段，使得它们的并恰好为</a:t>
                </a:r>
                <a:r>
                  <a:rPr lang="en-US" altLang="zh-CN"/>
                  <a:t> </a:t>
                </a:r>
                <a14:m>
                  <m:oMath xmlns:m="http://schemas.openxmlformats.org/officeDocument/2006/math">
                    <m:r>
                      <a:rPr lang="en-US" altLang="zh-CN">
                        <a:latin typeface="Cambria Math" panose="02040503050406030204" charset="0"/>
                        <a:cs typeface="Cambria Math" panose="02040503050406030204" charset="0"/>
                      </a:rPr>
                      <m:t>[</m:t>
                    </m:r>
                    <m:r>
                      <m:rPr>
                        <m:sty m:val="p"/>
                      </m:rPr>
                      <a:rPr lang="en-US" altLang="zh-CN">
                        <a:latin typeface="Cambria Math" panose="02040503050406030204" charset="0"/>
                        <a:cs typeface="Cambria Math" panose="02040503050406030204" charset="0"/>
                      </a:rPr>
                      <m:t>l</m:t>
                    </m:r>
                    <m:r>
                      <a:rPr lang="en-US" altLang="zh-CN">
                        <a:latin typeface="Cambria Math" panose="02040503050406030204" charset="0"/>
                        <a:cs typeface="Cambria Math" panose="02040503050406030204" charset="0"/>
                      </a:rPr>
                      <m:t>,</m:t>
                    </m:r>
                    <m:r>
                      <m:rPr>
                        <m:sty m:val="p"/>
                      </m:rPr>
                      <a:rPr lang="en-US" altLang="zh-CN">
                        <a:latin typeface="Cambria Math" panose="02040503050406030204" charset="0"/>
                        <a:cs typeface="Cambria Math" panose="02040503050406030204" charset="0"/>
                      </a:rPr>
                      <m:t>r</m:t>
                    </m:r>
                    <m:r>
                      <a:rPr lang="en-US" altLang="zh-CN">
                        <a:latin typeface="Cambria Math" panose="02040503050406030204" charset="0"/>
                        <a:cs typeface="Cambria Math" panose="02040503050406030204" charset="0"/>
                      </a:rPr>
                      <m:t>]</m:t>
                    </m:r>
                  </m:oMath>
                </a14:m>
                <a:r>
                  <a:rPr lang="en-US" altLang="zh-CN"/>
                  <a:t> </a:t>
                </a:r>
                <a:r>
                  <a:rPr lang="zh-CN" altLang="en-US"/>
                  <a:t>的方案数。</a:t>
                </a:r>
                <a:endParaRPr lang="zh-CN" altLang="en-US"/>
              </a:p>
              <a:p>
                <a:pPr marL="0" indent="0">
                  <a:buNone/>
                </a:pPr>
                <a:r>
                  <a:rPr lang="en-US" altLang="zh-CN"/>
                  <a:t> </a:t>
                </a:r>
                <a14:m>
                  <m:oMath xmlns:m="http://schemas.openxmlformats.org/officeDocument/2006/math">
                    <m:r>
                      <a:rPr lang="en-US" altLang="zh-CN" i="1">
                        <a:latin typeface="Cambria Math" panose="02040503050406030204" charset="0"/>
                        <a:cs typeface="Cambria Math" panose="02040503050406030204" charset="0"/>
                      </a:rPr>
                      <m:t>𝑞</m:t>
                    </m:r>
                  </m:oMath>
                </a14:m>
                <a:r>
                  <a:rPr lang="en-US" altLang="zh-CN"/>
                  <a:t> </a:t>
                </a:r>
                <a:r>
                  <a:rPr lang="zh-CN" altLang="en-US"/>
                  <a:t>次询问，每次给定</a:t>
                </a:r>
                <a:r>
                  <a:rPr lang="en-US" altLang="zh-CN"/>
                  <a:t> </a:t>
                </a:r>
                <a14:m>
                  <m:oMath xmlns:m="http://schemas.openxmlformats.org/officeDocument/2006/math">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&lt;</m:t>
                    </m:r>
                    <m:r>
                      <a:rPr lang="en-US" altLang="zh-CN" i="1">
                        <a:latin typeface="Cambria Math" panose="02040503050406030204" charset="0"/>
                        <a:cs typeface="Cambria Math" panose="02040503050406030204" charset="0"/>
                      </a:rPr>
                      <m:t>𝑦</m:t>
                    </m:r>
                  </m:oMath>
                </a14:m>
                <a:r>
                  <a:rPr lang="zh-CN" altLang="en-US">
                    <a:latin typeface="Cambria Math" panose="02040503050406030204" charset="0"/>
                    <a:cs typeface="Cambria Math" panose="02040503050406030204" charset="0"/>
                  </a:rPr>
                  <a:t>，求</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𝑓</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𝑦</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𝑔</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𝑦</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𝑚𝑜𝑑</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998244353</m:t>
                    </m:r>
                  </m:oMath>
                </a14:m>
                <a:endParaRPr lang="en-US" altLang="zh-CN" i="1">
                  <a:latin typeface="Cambria Math" panose="02040503050406030204" charset="0"/>
                  <a:cs typeface="Cambria Math" panose="02040503050406030204" charset="0"/>
                </a:endParaRPr>
              </a:p>
              <a:p>
                <a:pPr marL="0" indent="0">
                  <a:buNone/>
                </a:pPr>
                <a:endParaRPr lang="en-US" altLang="zh-CN">
                  <a:latin typeface="Cambria Math" panose="02040503050406030204" charset="0"/>
                  <a:cs typeface="Cambria Math" panose="02040503050406030204"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316865" y="1825625"/>
                <a:ext cx="11036935" cy="4351655"/>
              </a:xfrm>
              <a:blipFill rotWithShape="1">
                <a:blip r:embed="rId1"/>
                <a:stretch>
                  <a:fillRect r="-656"/>
                </a:stretch>
              </a:blipFill>
            </p:spPr>
            <p:txBody>
              <a:bodyPr/>
              <a:lstStyle/>
              <a:p>
                <a:r>
                  <a:rPr lang="zh-CN" alt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614680" y="685800"/>
                <a:ext cx="10739120" cy="5491480"/>
              </a:xfrm>
            </p:spPr>
            <p:txBody>
              <a:bodyPr/>
              <a:p>
                <a:r>
                  <a:rPr lang="zh-CN" altLang="en-US"/>
                  <a:t>考虑能否为每种方案设计一个</a:t>
                </a:r>
                <a:r>
                  <a:rPr lang="en-US" altLang="zh-CN"/>
                  <a:t>“</a:t>
                </a:r>
                <a:r>
                  <a:rPr lang="zh-CN" altLang="en-US"/>
                  <a:t>特征</a:t>
                </a:r>
                <a:r>
                  <a:rPr lang="en-US" altLang="zh-CN"/>
                  <a:t>”</a:t>
                </a:r>
                <a:r>
                  <a:rPr lang="zh-CN" altLang="en-US"/>
                  <a:t>，使得对于同种特征的方案，其权值能够尽可能</a:t>
                </a:r>
                <a:r>
                  <a:rPr lang="zh-CN" altLang="en-US"/>
                  <a:t>抵消</a:t>
                </a:r>
                <a:endParaRPr lang="zh-CN" altLang="en-US"/>
              </a:p>
              <a:p>
                <a:r>
                  <a:rPr lang="zh-CN" altLang="en-US"/>
                  <a:t>考虑对于这种区间并的方案，我们大抵能不能取出一组极小子集，使得它们的并任然</a:t>
                </a:r>
                <a:r>
                  <a:rPr lang="zh-CN" altLang="en-US"/>
                  <a:t>维持不变？</a:t>
                </a:r>
                <a:endParaRPr lang="zh-CN" altLang="en-US"/>
              </a:p>
              <a:p>
                <a:r>
                  <a:rPr lang="zh-CN" altLang="en-US"/>
                  <a:t>因此，我们考虑对于一组区间，设计</a:t>
                </a:r>
                <a:r>
                  <a:rPr lang="zh-CN" altLang="en-US"/>
                  <a:t>一个贪心策略：</a:t>
                </a:r>
                <a:endParaRPr lang="zh-CN" altLang="en-US"/>
              </a:p>
              <a:p>
                <a:pPr marL="0" indent="0">
                  <a:buNone/>
                </a:pPr>
                <a:r>
                  <a:rPr lang="en-US" altLang="zh-CN"/>
                  <a:t>1.</a:t>
                </a:r>
                <a:r>
                  <a:rPr lang="zh-CN" altLang="en-US"/>
                  <a:t>先取出其中左端点为</a:t>
                </a:r>
                <a:r>
                  <a:rPr lang="en-US" altLang="zh-CN"/>
                  <a:t> </a:t>
                </a:r>
                <a14:m>
                  <m:oMath xmlns:m="http://schemas.openxmlformats.org/officeDocument/2006/math">
                    <m:r>
                      <a:rPr lang="en-US" altLang="zh-CN" i="1">
                        <a:latin typeface="Cambria Math" panose="02040503050406030204" charset="0"/>
                        <a:cs typeface="Cambria Math" panose="02040503050406030204" charset="0"/>
                      </a:rPr>
                      <m:t>𝑥</m:t>
                    </m:r>
                  </m:oMath>
                </a14:m>
                <a:r>
                  <a:rPr lang="en-US" altLang="zh-CN"/>
                  <a:t> </a:t>
                </a:r>
                <a:r>
                  <a:rPr lang="zh-CN" altLang="en-US"/>
                  <a:t>的右端点最大的区间</a:t>
                </a:r>
                <a:endParaRPr lang="zh-CN" altLang="en-US"/>
              </a:p>
              <a:p>
                <a:pPr marL="0" indent="0">
                  <a:buNone/>
                </a:pPr>
                <a:r>
                  <a:rPr lang="en-US" altLang="zh-CN"/>
                  <a:t>2.</a:t>
                </a:r>
                <a:r>
                  <a:rPr lang="zh-CN" altLang="en-US"/>
                  <a:t>接下来不断取出与当前前缀有交点的右端点极大区间，直至</a:t>
                </a:r>
                <a:r>
                  <a:rPr lang="zh-CN" altLang="en-US"/>
                  <a:t>铺满</a:t>
                </a:r>
                <a:endParaRPr lang="zh-CN" altLang="en-US"/>
              </a:p>
              <a:p>
                <a:r>
                  <a:rPr lang="zh-CN" altLang="en-US"/>
                  <a:t>在这个策略下，我们可以注意到一</a:t>
                </a:r>
                <a:r>
                  <a:rPr lang="zh-CN" altLang="en-US"/>
                  <a:t>个细节：内部有区间的区间是不可以在</a:t>
                </a:r>
                <a:r>
                  <a:rPr lang="en-US" altLang="zh-CN"/>
                  <a:t>“</a:t>
                </a:r>
                <a:r>
                  <a:rPr lang="zh-CN" altLang="en-US"/>
                  <a:t>特征</a:t>
                </a:r>
                <a:r>
                  <a:rPr lang="en-US" altLang="zh-CN"/>
                  <a:t>”</a:t>
                </a:r>
                <a:r>
                  <a:rPr lang="zh-CN" altLang="en-US"/>
                  <a:t>当中</a:t>
                </a:r>
                <a:r>
                  <a:rPr lang="zh-CN" altLang="en-US"/>
                  <a:t>的</a:t>
                </a:r>
                <a:endParaRPr lang="zh-CN" altLang="en-US"/>
              </a:p>
              <a:p>
                <a:r>
                  <a:rPr lang="zh-CN" altLang="en-US"/>
                  <a:t>因此，我们只保留极小区间，这些区间显然左端点和右端点都分别单增，我们的</a:t>
                </a:r>
                <a:r>
                  <a:rPr lang="en-US" altLang="zh-CN"/>
                  <a:t>“</a:t>
                </a:r>
                <a:r>
                  <a:rPr lang="zh-CN" altLang="en-US"/>
                  <a:t>特征</a:t>
                </a:r>
                <a:r>
                  <a:rPr lang="en-US" altLang="zh-CN"/>
                  <a:t>”</a:t>
                </a:r>
                <a:r>
                  <a:rPr lang="zh-CN" altLang="en-US"/>
                  <a:t>和</a:t>
                </a:r>
                <a:r>
                  <a:rPr lang="zh-CN" altLang="en-US"/>
                  <a:t>方案只能在这里面取</a:t>
                </a:r>
                <a:endParaRPr lang="zh-CN" altLang="en-US"/>
              </a:p>
            </p:txBody>
          </p:sp>
        </mc:Choice>
        <mc:Fallback>
          <p:sp>
            <p:nvSpPr>
              <p:cNvPr id="3" name="内容占位符 2"/>
              <p:cNvSpPr>
                <a:spLocks noRot="1" noChangeAspect="1" noMove="1" noResize="1" noEditPoints="1" noAdjustHandles="1" noChangeArrowheads="1" noChangeShapeType="1" noTextEdit="1"/>
              </p:cNvSpPr>
              <p:nvPr>
                <p:ph idx="1"/>
              </p:nvPr>
            </p:nvSpPr>
            <p:spPr>
              <a:xfrm>
                <a:off x="614680" y="685800"/>
                <a:ext cx="10739120" cy="5491480"/>
              </a:xfrm>
              <a:blipFill rotWithShape="1">
                <a:blip r:embed="rId1"/>
                <a:stretch>
                  <a:fillRect t="-139"/>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554990" y="455930"/>
                <a:ext cx="10798810" cy="5721350"/>
              </a:xfrm>
            </p:spPr>
            <p:txBody>
              <a:bodyPr/>
              <a:p>
                <a:r>
                  <a:rPr lang="zh-CN" altLang="en-US"/>
                  <a:t>再仔细挖掘一些性质，发现事实上对于一个询问来说，权值和不为</a:t>
                </a:r>
                <a:r>
                  <a:rPr lang="en-US" altLang="zh-CN"/>
                  <a:t>0</a:t>
                </a:r>
                <a:r>
                  <a:rPr lang="zh-CN" altLang="en-US"/>
                  <a:t>的特征最多只有一个，且形式类似</a:t>
                </a:r>
                <a:r>
                  <a:rPr lang="zh-CN" altLang="en-US"/>
                  <a:t>与下图：</a:t>
                </a:r>
                <a:endParaRPr lang="zh-CN" altLang="en-US"/>
              </a:p>
              <a:p>
                <a:endParaRPr lang="zh-CN" altLang="en-US"/>
              </a:p>
              <a:p>
                <a:endParaRPr lang="zh-CN" altLang="en-US"/>
              </a:p>
              <a:p>
                <a:endParaRPr lang="zh-CN" altLang="en-US"/>
              </a:p>
              <a:p>
                <a:r>
                  <a:rPr lang="zh-CN" altLang="en-US"/>
                  <a:t>那么根据这种贪心策略，我们可以设计一个倍增算法判定存在性以及奇偶性，后者可以通过倍增的步数来判断，而前者是因为两条链倘若相交那么就一定非法，反之是</a:t>
                </a:r>
                <a:r>
                  <a:rPr lang="zh-CN" altLang="en-US"/>
                  <a:t>合法的</a:t>
                </a:r>
                <a:endParaRPr lang="zh-CN" altLang="en-US"/>
              </a:p>
              <a:p>
                <a:r>
                  <a:rPr lang="zh-CN" altLang="en-US"/>
                  <a:t>所有部分总复杂度为</a:t>
                </a:r>
                <a:r>
                  <a:rPr lang="en-US" altLang="zh-CN"/>
                  <a:t> </a:t>
                </a:r>
                <a14:m>
                  <m:oMath xmlns:m="http://schemas.openxmlformats.org/officeDocument/2006/math">
                    <m:r>
                      <a:rPr lang="en-US" altLang="zh-CN" i="1">
                        <a:latin typeface="Cambria Math" panose="02040503050406030204" charset="0"/>
                        <a:cs typeface="Cambria Math" panose="02040503050406030204" charset="0"/>
                      </a:rPr>
                      <m:t>𝑂</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𝑛</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𝑞</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𝑙𝑜𝑔</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𝑛</m:t>
                    </m:r>
                    <m:r>
                      <a:rPr lang="en-US" altLang="zh-CN" i="1">
                        <a:latin typeface="Cambria Math" panose="02040503050406030204" charset="0"/>
                        <a:cs typeface="Cambria Math" panose="02040503050406030204" charset="0"/>
                      </a:rPr>
                      <m:t>)</m:t>
                    </m:r>
                  </m:oMath>
                </a14:m>
                <a:endParaRPr lang="en-US" altLang="zh-CN"/>
              </a:p>
            </p:txBody>
          </p:sp>
        </mc:Choice>
        <mc:Fallback>
          <p:sp>
            <p:nvSpPr>
              <p:cNvPr id="3" name="内容占位符 2"/>
              <p:cNvSpPr>
                <a:spLocks noRot="1" noChangeAspect="1" noMove="1" noResize="1" noEditPoints="1" noAdjustHandles="1" noChangeArrowheads="1" noChangeShapeType="1" noTextEdit="1"/>
              </p:cNvSpPr>
              <p:nvPr>
                <p:ph idx="1"/>
              </p:nvPr>
            </p:nvSpPr>
            <p:spPr>
              <a:xfrm>
                <a:off x="554990" y="455930"/>
                <a:ext cx="10798810" cy="5721350"/>
              </a:xfrm>
              <a:blipFill rotWithShape="1">
                <a:blip r:embed="rId1"/>
                <a:stretch>
                  <a:fillRect t="-22"/>
                </a:stretch>
              </a:blipFill>
            </p:spPr>
            <p:txBody>
              <a:bodyPr/>
              <a:lstStyle/>
              <a:p>
                <a:r>
                  <a:rPr lang="zh-CN" altLang="en-US">
                    <a:noFill/>
                  </a:rPr>
                  <a:t> </a:t>
                </a:r>
              </a:p>
            </p:txBody>
          </p:sp>
        </mc:Fallback>
      </mc:AlternateContent>
      <p:pic>
        <p:nvPicPr>
          <p:cNvPr id="4" name="图片 3"/>
          <p:cNvPicPr>
            <a:picLocks noChangeAspect="1"/>
          </p:cNvPicPr>
          <p:nvPr/>
        </p:nvPicPr>
        <p:blipFill>
          <a:blip r:embed="rId2"/>
          <a:stretch>
            <a:fillRect/>
          </a:stretch>
        </p:blipFill>
        <p:spPr>
          <a:xfrm>
            <a:off x="267970" y="1286510"/>
            <a:ext cx="11372850" cy="15303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[PKUSC2023] </a:t>
            </a:r>
            <a:r>
              <a:rPr lang="zh-CN" altLang="en-US"/>
              <a:t>狼人杀</a:t>
            </a:r>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p>
                <a:pPr marL="0" indent="0">
                  <a:buNone/>
                </a:pPr>
                <a:r>
                  <a:rPr lang="zh-CN" altLang="en-US"/>
                  <a:t>现在有</a:t>
                </a:r>
                <a:r>
                  <a:rPr lang="en-US" altLang="zh-CN"/>
                  <a:t> </a:t>
                </a:r>
                <a14:m>
                  <m:oMath xmlns:m="http://schemas.openxmlformats.org/officeDocument/2006/math">
                    <m:r>
                      <a:rPr lang="en-US" altLang="zh-CN" i="1">
                        <a:latin typeface="Cambria Math" panose="02040503050406030204" charset="0"/>
                        <a:cs typeface="Cambria Math" panose="02040503050406030204" charset="0"/>
                      </a:rPr>
                      <m:t>𝑛</m:t>
                    </m:r>
                  </m:oMath>
                </a14:m>
                <a:r>
                  <a:rPr lang="en-US" altLang="zh-CN"/>
                  <a:t> </a:t>
                </a:r>
                <a:r>
                  <a:rPr lang="zh-CN" altLang="en-US"/>
                  <a:t>个玩家正在玩狼人杀，其中第</a:t>
                </a:r>
                <a:r>
                  <a:rPr lang="en-US" altLang="zh-CN"/>
                  <a:t> </a:t>
                </a:r>
                <a14:m>
                  <m:oMath xmlns:m="http://schemas.openxmlformats.org/officeDocument/2006/math">
                    <m:r>
                      <a:rPr lang="en-US" altLang="zh-CN" i="1">
                        <a:latin typeface="Cambria Math" panose="02040503050406030204" charset="0"/>
                        <a:cs typeface="Cambria Math" panose="02040503050406030204" charset="0"/>
                      </a:rPr>
                      <m:t>𝑚</m:t>
                    </m:r>
                  </m:oMath>
                </a14:m>
                <a:r>
                  <a:rPr lang="en-US" altLang="zh-CN"/>
                  <a:t> </a:t>
                </a:r>
                <a:r>
                  <a:rPr lang="zh-CN" altLang="en-US"/>
                  <a:t>位玩家是狼人，现在剩余</a:t>
                </a:r>
                <a:r>
                  <a:rPr lang="en-US" altLang="zh-CN"/>
                  <a:t> </a:t>
                </a:r>
                <a14:m>
                  <m:oMath xmlns:m="http://schemas.openxmlformats.org/officeDocument/2006/math">
                    <m:r>
                      <a:rPr lang="en-US" altLang="zh-CN" i="1">
                        <a:latin typeface="Cambria Math" panose="02040503050406030204" charset="0"/>
                        <a:cs typeface="Cambria Math" panose="02040503050406030204" charset="0"/>
                      </a:rPr>
                      <m:t>𝑛</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oMath>
                </a14:m>
                <a:r>
                  <a:rPr lang="en-US" altLang="zh-CN"/>
                  <a:t> </a:t>
                </a:r>
                <a:r>
                  <a:rPr lang="zh-CN" altLang="en-US"/>
                  <a:t>个人分别有</a:t>
                </a:r>
                <a:r>
                  <a:rPr lang="en-US" altLang="zh-CN"/>
                  <a:t> </a:t>
                </a:r>
                <a14:m>
                  <m:oMath xmlns:m="http://schemas.openxmlformats.org/officeDocument/2006/math">
                    <m:f>
                      <m:fPr>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1</m:t>
                        </m:r>
                      </m:num>
                      <m:den>
                        <m:r>
                          <a:rPr lang="en-US" altLang="zh-CN" i="1">
                            <a:latin typeface="Cambria Math" panose="02040503050406030204" charset="0"/>
                            <a:cs typeface="Cambria Math" panose="02040503050406030204" charset="0"/>
                          </a:rPr>
                          <m:t>𝑛</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den>
                    </m:f>
                  </m:oMath>
                </a14:m>
                <a:r>
                  <a:rPr lang="en-US" altLang="zh-CN"/>
                  <a:t> </a:t>
                </a:r>
                <a:r>
                  <a:rPr lang="zh-CN" altLang="en-US"/>
                  <a:t>的概率成为预言家，在等概率随即钦定预言家后开始游戏。每轮游戏，预言家将等概率</a:t>
                </a:r>
                <a:r>
                  <a:rPr lang="zh-CN" altLang="en-US"/>
                  <a:t>随机查验某一段区间</a:t>
                </a:r>
                <a:r>
                  <a:rPr lang="en-US" altLang="zh-CN"/>
                  <a:t> </a:t>
                </a:r>
                <a14:m>
                  <m:oMath xmlns:m="http://schemas.openxmlformats.org/officeDocument/2006/math">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𝑙</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𝑟</m:t>
                    </m:r>
                    <m:r>
                      <a:rPr lang="en-US" altLang="zh-CN" i="1">
                        <a:latin typeface="Cambria Math" panose="02040503050406030204" charset="0"/>
                        <a:cs typeface="Cambria Math" panose="02040503050406030204" charset="0"/>
                      </a:rPr>
                      <m:t>]</m:t>
                    </m:r>
                  </m:oMath>
                </a14:m>
                <a:r>
                  <a:rPr lang="en-US" altLang="zh-CN"/>
                  <a:t> </a:t>
                </a:r>
                <a:r>
                  <a:rPr lang="zh-CN" altLang="en-US"/>
                  <a:t>是否存在狼人，问期望多少轮可以让预言家知道谁是</a:t>
                </a:r>
                <a:r>
                  <a:rPr lang="zh-CN" altLang="en-US"/>
                  <a:t>狼人？</a:t>
                </a:r>
                <a:endParaRPr lang="zh-CN" altLang="en-US"/>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𝑛</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150</m:t>
                      </m:r>
                    </m:oMath>
                  </m:oMathPara>
                </a14:m>
                <a:endParaRPr lang="zh-CN" altLang="en-US"/>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518160" y="537210"/>
                <a:ext cx="10835640" cy="5640070"/>
              </a:xfrm>
            </p:spPr>
            <p:txBody>
              <a:bodyPr/>
              <a:p>
                <a:r>
                  <a:rPr lang="zh-CN" altLang="en-US"/>
                  <a:t>考虑该问题可以转化成多少轮预言家能够排除其他所有人是狼人的可能性，这等价于其余玩家被排除所需轮数的</a:t>
                </a:r>
                <a:r>
                  <a:rPr lang="en-US" altLang="zh-CN"/>
                  <a:t> </a:t>
                </a:r>
                <a14:m>
                  <m:oMath xmlns:m="http://schemas.openxmlformats.org/officeDocument/2006/math">
                    <m:r>
                      <a:rPr lang="en-US" altLang="zh-CN" i="1">
                        <a:latin typeface="Cambria Math" panose="02040503050406030204" charset="0"/>
                        <a:cs typeface="Cambria Math" panose="02040503050406030204" charset="0"/>
                      </a:rPr>
                      <m:t>𝑚𝑎𝑥</m:t>
                    </m:r>
                  </m:oMath>
                </a14:m>
                <a:endParaRPr lang="en-US" altLang="zh-CN" i="1">
                  <a:latin typeface="Cambria Math" panose="02040503050406030204" charset="0"/>
                  <a:cs typeface="Cambria Math" panose="02040503050406030204" charset="0"/>
                </a:endParaRPr>
              </a:p>
              <a:p>
                <a:r>
                  <a:rPr lang="zh-CN" altLang="en-US"/>
                  <a:t>从而我们可以考虑</a:t>
                </a:r>
                <a:r>
                  <a:rPr lang="en-US" altLang="zh-CN"/>
                  <a:t>  </a:t>
                </a:r>
                <a14:m>
                  <m:oMath xmlns:m="http://schemas.openxmlformats.org/officeDocument/2006/math">
                    <m:r>
                      <a:rPr lang="en-US" altLang="zh-CN" i="1">
                        <a:latin typeface="Cambria Math" panose="02040503050406030204" charset="0"/>
                        <a:cs typeface="Cambria Math" panose="02040503050406030204" charset="0"/>
                      </a:rPr>
                      <m:t>𝑚𝑖𝑛</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𝑚𝑎𝑥</m:t>
                    </m:r>
                  </m:oMath>
                </a14:m>
                <a:r>
                  <a:rPr lang="en-US" altLang="zh-CN"/>
                  <a:t> </a:t>
                </a:r>
                <a:r>
                  <a:rPr lang="zh-CN" altLang="en-US"/>
                  <a:t>容斥，使用下列公式</a:t>
                </a:r>
                <a:r>
                  <a:rPr lang="en-US" altLang="zh-CN"/>
                  <a:t> </a:t>
                </a:r>
                <a14:m>
                  <m:oMath xmlns:m="http://schemas.openxmlformats.org/officeDocument/2006/math">
                    <m:r>
                      <a:rPr lang="en-US" altLang="zh-CN" i="1">
                        <a:latin typeface="Cambria Math" panose="02040503050406030204" charset="0"/>
                        <a:cs typeface="Cambria Math" panose="02040503050406030204" charset="0"/>
                      </a:rPr>
                      <m:t>𝐸</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𝑚𝑎𝑥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𝑆</m:t>
                    </m:r>
                    <m:r>
                      <a:rPr lang="en-US" altLang="zh-CN" i="1">
                        <a:latin typeface="Cambria Math" panose="02040503050406030204" charset="0"/>
                        <a:cs typeface="Cambria Math" panose="02040503050406030204" charset="0"/>
                      </a:rPr>
                      <m:t>))=</m:t>
                    </m:r>
                    <m:nary>
                      <m:naryPr>
                        <m:chr m:val="∑"/>
                        <m:limLoc m:val="subSup"/>
                        <m:supHide m:val="on"/>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𝑇</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𝑆</m:t>
                        </m:r>
                      </m:sub>
                      <m:sup/>
                      <m:e>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e>
                          <m: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𝑇</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p>
                        </m:sSup>
                        <m:r>
                          <a:rPr lang="en-US" altLang="zh-CN" i="1">
                            <a:latin typeface="Cambria Math" panose="02040503050406030204" charset="0"/>
                            <a:cs typeface="Cambria Math" panose="02040503050406030204" charset="0"/>
                          </a:rPr>
                          <m:t>𝐸</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𝑚𝑖𝑛</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𝑇</m:t>
                        </m:r>
                        <m:r>
                          <a:rPr lang="en-US" altLang="zh-CN" i="1">
                            <a:latin typeface="Cambria Math" panose="02040503050406030204" charset="0"/>
                            <a:cs typeface="Cambria Math" panose="02040503050406030204" charset="0"/>
                          </a:rPr>
                          <m:t>))</m:t>
                        </m:r>
                      </m:e>
                    </m:nary>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转化，将问题变成最少多少轮排除某个子集中的</a:t>
                </a:r>
                <a:r>
                  <a:rPr lang="zh-CN" altLang="en-US">
                    <a:latin typeface="Cambria Math" panose="02040503050406030204" charset="0"/>
                    <a:cs typeface="Cambria Math" panose="02040503050406030204" charset="0"/>
                  </a:rPr>
                  <a:t>某个人</a:t>
                </a:r>
                <a:endParaRPr lang="zh-CN" altLang="en-US">
                  <a:latin typeface="Cambria Math" panose="02040503050406030204" charset="0"/>
                  <a:cs typeface="Cambria Math" panose="02040503050406030204" charset="0"/>
                </a:endParaRPr>
              </a:p>
              <a:p>
                <a:r>
                  <a:rPr lang="zh-CN" altLang="en-US">
                    <a:latin typeface="Cambria Math" panose="02040503050406030204" charset="0"/>
                    <a:cs typeface="Cambria Math" panose="02040503050406030204" charset="0"/>
                  </a:rPr>
                  <a:t>这只需要考虑有多少区间不覆盖子集中任何一个人，考虑子集中相邻两个人的间隔</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𝑐</m:t>
                    </m:r>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𝑐</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𝑐𝑚</m:t>
                    </m:r>
                  </m:oMath>
                </a14:m>
                <a:r>
                  <a:rPr lang="zh-CN" altLang="en-US">
                    <a:latin typeface="Cambria Math" panose="02040503050406030204" charset="0"/>
                    <a:cs typeface="Cambria Math" panose="02040503050406030204" charset="0"/>
                  </a:rPr>
                  <a:t>，那么区间数量是容易计算的，由此该部分的</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𝐸𝑚𝑖𝑛</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就是</a:t>
                </a:r>
                <a:r>
                  <a:rPr lang="en-US" altLang="zh-CN">
                    <a:latin typeface="Cambria Math" panose="02040503050406030204" charset="0"/>
                    <a:cs typeface="Cambria Math" panose="02040503050406030204" charset="0"/>
                  </a:rPr>
                  <a:t> </a:t>
                </a:r>
                <a14:m>
                  <m:oMath xmlns:m="http://schemas.openxmlformats.org/officeDocument/2006/math">
                    <m:f>
                      <m:fPr>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1</m:t>
                        </m:r>
                      </m:num>
                      <m:den>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f>
                          <m:fPr>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𝑐𝑛𝑡</m:t>
                            </m:r>
                          </m:num>
                          <m:den>
                            <m:r>
                              <a:rPr lang="en-US" altLang="zh-CN" i="1">
                                <a:latin typeface="Cambria Math" panose="02040503050406030204" charset="0"/>
                                <a:cs typeface="Cambria Math" panose="02040503050406030204" charset="0"/>
                              </a:rPr>
                              <m:t>𝑛</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𝑛</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2</m:t>
                            </m:r>
                          </m:den>
                        </m:f>
                      </m:den>
                    </m:f>
                  </m:oMath>
                </a14:m>
                <a:r>
                  <a:rPr lang="zh-CN" altLang="en-US">
                    <a:latin typeface="Cambria Math" panose="02040503050406030204" charset="0"/>
                    <a:cs typeface="Cambria Math" panose="02040503050406030204" charset="0"/>
                  </a:rPr>
                  <a:t>，其中</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𝑐𝑛𝑡</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是上述统计区间的数量，枚举第一个子集中的人并</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𝑑𝑝</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的复杂度是</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𝑂</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𝑛</m:t>
                        </m:r>
                      </m:e>
                      <m:sup>
                        <m:r>
                          <a:rPr lang="en-US" altLang="zh-CN" i="1">
                            <a:latin typeface="Cambria Math" panose="02040503050406030204" charset="0"/>
                            <a:cs typeface="Cambria Math" panose="02040503050406030204" charset="0"/>
                          </a:rPr>
                          <m:t>5</m:t>
                        </m:r>
                      </m:sup>
                    </m:sSup>
                    <m:r>
                      <a:rPr lang="en-US" altLang="zh-CN" i="1">
                        <a:latin typeface="Cambria Math" panose="02040503050406030204" charset="0"/>
                        <a:cs typeface="Cambria Math" panose="02040503050406030204" charset="0"/>
                      </a:rPr>
                      <m:t>)</m:t>
                    </m:r>
                  </m:oMath>
                </a14:m>
                <a:r>
                  <a:rPr lang="zh-CN" altLang="en-US">
                    <a:latin typeface="Cambria Math" panose="02040503050406030204" charset="0"/>
                    <a:cs typeface="Cambria Math" panose="02040503050406030204" charset="0"/>
                  </a:rPr>
                  <a:t>，常数较小</a:t>
                </a:r>
                <a:r>
                  <a:rPr lang="zh-CN" altLang="en-US">
                    <a:latin typeface="Cambria Math" panose="02040503050406030204" charset="0"/>
                    <a:cs typeface="Cambria Math" panose="02040503050406030204" charset="0"/>
                  </a:rPr>
                  <a:t>可以过</a:t>
                </a:r>
                <a:endParaRPr lang="zh-CN" altLang="en-US">
                  <a:latin typeface="Cambria Math" panose="02040503050406030204" charset="0"/>
                  <a:cs typeface="Cambria Math" panose="02040503050406030204" charset="0"/>
                </a:endParaRPr>
              </a:p>
              <a:p>
                <a:r>
                  <a:rPr lang="zh-CN" altLang="en-US">
                    <a:latin typeface="Cambria Math" panose="02040503050406030204" charset="0"/>
                    <a:cs typeface="Cambria Math" panose="02040503050406030204" charset="0"/>
                  </a:rPr>
                  <a:t>进一步的，注意到可以补链成环再成链，这样复杂度就是</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𝑂</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𝑛</m:t>
                        </m:r>
                      </m:e>
                      <m:sup>
                        <m:r>
                          <a:rPr lang="en-US" altLang="zh-CN" i="1">
                            <a:latin typeface="Cambria Math" panose="02040503050406030204" charset="0"/>
                            <a:cs typeface="Cambria Math" panose="02040503050406030204" charset="0"/>
                          </a:rPr>
                          <m:t>4</m:t>
                        </m:r>
                      </m:sup>
                    </m:sSup>
                    <m:r>
                      <a:rPr lang="en-US" altLang="zh-CN" i="1">
                        <a:latin typeface="Cambria Math" panose="02040503050406030204" charset="0"/>
                        <a:cs typeface="Cambria Math" panose="02040503050406030204" charset="0"/>
                      </a:rPr>
                      <m:t>)</m:t>
                    </m:r>
                  </m:oMath>
                </a14:m>
                <a:r>
                  <a:rPr lang="zh-CN" altLang="en-US">
                    <a:latin typeface="Cambria Math" panose="02040503050406030204" charset="0"/>
                    <a:cs typeface="Cambria Math" panose="02040503050406030204" charset="0"/>
                  </a:rPr>
                  <a:t>。</a:t>
                </a:r>
                <a:endParaRPr lang="zh-CN" altLang="en-US">
                  <a:latin typeface="Cambria Math" panose="02040503050406030204" charset="0"/>
                  <a:cs typeface="Cambria Math" panose="02040503050406030204"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518160" y="537210"/>
                <a:ext cx="10835640" cy="5640070"/>
              </a:xfrm>
              <a:blipFill rotWithShape="1">
                <a:blip r:embed="rId1"/>
                <a:stretch>
                  <a:fillRect t="-23"/>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AGC068D Sum of Hash of Lexmin</a:t>
            </a:r>
            <a:endParaRPr lang="en-US" altLang="zh-CN"/>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p>
                <a:pPr marL="0" indent="0">
                  <a:buNone/>
                </a:pPr>
                <a:r>
                  <a:rPr lang="zh-CN" altLang="en-US"/>
                  <a:t>给定一棵</a:t>
                </a:r>
                <a:r>
                  <a:rPr lang="en-US" altLang="zh-CN"/>
                  <a:t> </a:t>
                </a:r>
                <a14:m>
                  <m:oMath xmlns:m="http://schemas.openxmlformats.org/officeDocument/2006/math">
                    <m:r>
                      <a:rPr lang="en-US" altLang="zh-CN" i="1">
                        <a:latin typeface="Cambria Math" panose="02040503050406030204" charset="0"/>
                        <a:cs typeface="Cambria Math" panose="02040503050406030204" charset="0"/>
                      </a:rPr>
                      <m:t>𝑛</m:t>
                    </m:r>
                  </m:oMath>
                </a14:m>
                <a:r>
                  <a:rPr lang="en-US" altLang="zh-CN"/>
                  <a:t> </a:t>
                </a:r>
                <a:r>
                  <a:rPr lang="zh-CN" altLang="en-US"/>
                  <a:t>个点的有根树，</a:t>
                </a:r>
                <a14:m>
                  <m:oMath xmlns:m="http://schemas.openxmlformats.org/officeDocument/2006/math">
                    <m:r>
                      <a:rPr lang="en-US" altLang="zh-CN" i="1">
                        <a:latin typeface="Cambria Math" panose="02040503050406030204" charset="0"/>
                        <a:cs typeface="Cambria Math" panose="02040503050406030204" charset="0"/>
                      </a:rPr>
                      <m:t>1</m:t>
                    </m:r>
                  </m:oMath>
                </a14:m>
                <a:r>
                  <a:rPr lang="en-US" altLang="zh-CN"/>
                  <a:t> </a:t>
                </a:r>
                <a:r>
                  <a:rPr lang="zh-CN" altLang="en-US"/>
                  <a:t>是根，</a:t>
                </a:r>
                <a14:m>
                  <m:oMath xmlns:m="http://schemas.openxmlformats.org/officeDocument/2006/math">
                    <m:r>
                      <a:rPr lang="en-US" altLang="zh-CN" i="1">
                        <a:latin typeface="Cambria Math" panose="02040503050406030204" charset="0"/>
                        <a:cs typeface="Cambria Math" panose="02040503050406030204" charset="0"/>
                      </a:rPr>
                      <m:t>𝑖</m:t>
                    </m:r>
                  </m:oMath>
                </a14:m>
                <a:r>
                  <a:rPr lang="en-US" altLang="zh-CN"/>
                  <a:t> </a:t>
                </a:r>
                <a:r>
                  <a:rPr lang="zh-CN" altLang="en-US"/>
                  <a:t>号点的父亲</a:t>
                </a:r>
                <a:r>
                  <a:rPr lang="en-US" altLang="zh-CN"/>
                  <a:t>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𝑝</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&lt;</m:t>
                    </m:r>
                    <m:r>
                      <a:rPr lang="en-US" altLang="zh-CN" i="1">
                        <a:latin typeface="Cambria Math" panose="02040503050406030204" charset="0"/>
                        <a:cs typeface="Cambria Math" panose="02040503050406030204" charset="0"/>
                      </a:rPr>
                      <m:t>𝑖</m:t>
                    </m:r>
                  </m:oMath>
                </a14:m>
                <a:r>
                  <a:rPr lang="zh-CN" altLang="en-US">
                    <a:latin typeface="Cambria Math" panose="02040503050406030204" charset="0"/>
                    <a:cs typeface="Cambria Math" panose="02040503050406030204" charset="0"/>
                  </a:rPr>
                  <a:t>。一个长度为</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𝑛</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的排列</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𝑥</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被称作好的，当且仅当通过一下的操作，无法得到一个字典序更小的</a:t>
                </a:r>
                <a:r>
                  <a:rPr lang="zh-CN" altLang="en-US">
                    <a:latin typeface="Cambria Math" panose="02040503050406030204" charset="0"/>
                    <a:cs typeface="Cambria Math" panose="02040503050406030204" charset="0"/>
                  </a:rPr>
                  <a:t>排列：</a:t>
                </a:r>
                <a:endParaRPr lang="zh-CN" altLang="en-US">
                  <a:latin typeface="Cambria Math" panose="02040503050406030204" charset="0"/>
                  <a:cs typeface="Cambria Math" panose="02040503050406030204" charset="0"/>
                </a:endParaRPr>
              </a:p>
              <a:p>
                <a:pPr marL="0" indent="457200">
                  <a:buNone/>
                </a:pPr>
                <a:r>
                  <a:rPr lang="zh-CN" altLang="en-US">
                    <a:latin typeface="Cambria Math" panose="02040503050406030204" charset="0"/>
                    <a:cs typeface="Cambria Math" panose="02040503050406030204" charset="0"/>
                  </a:rPr>
                  <a:t>选择相邻两个元素</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𝑢</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和</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𝑣</m:t>
                    </m:r>
                  </m:oMath>
                </a14:m>
                <a:r>
                  <a:rPr lang="zh-CN" altLang="en-US">
                    <a:latin typeface="Cambria Math" panose="02040503050406030204" charset="0"/>
                    <a:cs typeface="Cambria Math" panose="02040503050406030204" charset="0"/>
                  </a:rPr>
                  <a:t>，并交换</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𝑢</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和</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𝑣</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的位置，该操作可以执行当且仅当</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𝑢</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和</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𝑣</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在树上是祖孙关系（无论谁是祖</a:t>
                </a:r>
                <a:r>
                  <a:rPr lang="zh-CN" altLang="en-US">
                    <a:latin typeface="Cambria Math" panose="02040503050406030204" charset="0"/>
                    <a:cs typeface="Cambria Math" panose="02040503050406030204" charset="0"/>
                  </a:rPr>
                  <a:t>谁是孙）</a:t>
                </a:r>
                <a:endParaRPr lang="zh-CN" altLang="en-US">
                  <a:latin typeface="Cambria Math" panose="02040503050406030204" charset="0"/>
                  <a:cs typeface="Cambria Math" panose="02040503050406030204" charset="0"/>
                </a:endParaRPr>
              </a:p>
              <a:p>
                <a:pPr marL="0" indent="457200">
                  <a:buNone/>
                </a:pPr>
                <a:r>
                  <a:rPr lang="zh-CN" altLang="en-US">
                    <a:latin typeface="Cambria Math" panose="02040503050406030204" charset="0"/>
                    <a:cs typeface="Cambria Math" panose="02040503050406030204" charset="0"/>
                  </a:rPr>
                  <a:t>定义排列</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𝑥</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的哈希值是</a:t>
                </a:r>
                <a:r>
                  <a:rPr lang="en-US" altLang="zh-CN">
                    <a:latin typeface="Cambria Math" panose="02040503050406030204" charset="0"/>
                    <a:cs typeface="Cambria Math" panose="02040503050406030204" charset="0"/>
                  </a:rPr>
                  <a:t> </a:t>
                </a:r>
                <a14:m>
                  <m:oMath xmlns:m="http://schemas.openxmlformats.org/officeDocument/2006/math">
                    <m:nary>
                      <m:naryPr>
                        <m:chr m:val="∑"/>
                        <m:limLoc m:val="undOvr"/>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up>
                        <m:r>
                          <a:rPr lang="en-US" altLang="zh-CN" i="1">
                            <a:latin typeface="Cambria Math" panose="02040503050406030204" charset="0"/>
                            <a:cs typeface="Cambria Math" panose="02040503050406030204" charset="0"/>
                          </a:rPr>
                          <m:t>𝑛</m:t>
                        </m:r>
                      </m:sup>
                      <m:e>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𝐵</m:t>
                            </m:r>
                          </m:e>
                          <m:sup>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p>
                        </m:sSup>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𝑖</m:t>
                            </m:r>
                          </m:sub>
                        </m:sSub>
                      </m:e>
                    </m:nary>
                  </m:oMath>
                </a14:m>
                <a:r>
                  <a:rPr lang="zh-CN" altLang="en-US">
                    <a:latin typeface="Cambria Math" panose="02040503050406030204" charset="0"/>
                    <a:cs typeface="Cambria Math" panose="02040503050406030204" charset="0"/>
                  </a:rPr>
                  <a:t>，其中</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𝐵</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是一个给定的常数，现要求所有好的排列的哈希值总和对</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998244353</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取模后的结果。</a:t>
                </a:r>
                <a:endParaRPr lang="zh-CN" altLang="en-US">
                  <a:latin typeface="Cambria Math" panose="02040503050406030204" charset="0"/>
                  <a:cs typeface="Cambria Math" panose="02040503050406030204" charset="0"/>
                </a:endParaRPr>
              </a:p>
              <a:p>
                <a:pPr marL="0" indent="45720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𝑛</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100</m:t>
                      </m:r>
                    </m:oMath>
                  </m:oMathPara>
                </a14:m>
                <a:endParaRPr lang="en-US" altLang="zh-CN">
                  <a:latin typeface="Cambria Math" panose="02040503050406030204" charset="0"/>
                  <a:cs typeface="Cambria Math" panose="02040503050406030204"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38200" y="1141095"/>
                <a:ext cx="10515600" cy="5036185"/>
              </a:xfrm>
            </p:spPr>
            <p:txBody>
              <a:bodyPr/>
              <a:p>
                <a:r>
                  <a:rPr lang="zh-CN" altLang="en-US"/>
                  <a:t>一个关键性质是如果互为祖孙关系，那么编号小的点一定是编号大的点的</a:t>
                </a:r>
                <a:r>
                  <a:rPr lang="zh-CN" altLang="en-US"/>
                  <a:t>祖先</a:t>
                </a:r>
                <a:endParaRPr lang="zh-CN" altLang="en-US"/>
              </a:p>
              <a:p>
                <a:r>
                  <a:rPr lang="zh-CN" altLang="en-US"/>
                  <a:t>另一个关键性质是，一次操作足以判断排列是否好</a:t>
                </a:r>
                <a:endParaRPr lang="zh-CN" altLang="en-US"/>
              </a:p>
              <a:p>
                <a:r>
                  <a:rPr lang="zh-CN" altLang="en-US"/>
                  <a:t>假设最终</a:t>
                </a:r>
                <a:r>
                  <a:rPr lang="en-US" altLang="zh-CN"/>
                  <a:t> </a:t>
                </a:r>
                <a14:m>
                  <m:oMath xmlns:m="http://schemas.openxmlformats.org/officeDocument/2006/math">
                    <m:r>
                      <a:rPr lang="en-US" altLang="zh-CN" i="1">
                        <a:latin typeface="Cambria Math" panose="02040503050406030204" charset="0"/>
                        <a:cs typeface="Cambria Math" panose="02040503050406030204" charset="0"/>
                      </a:rPr>
                      <m:t>𝑃𝑗</m:t>
                    </m:r>
                  </m:oMath>
                </a14:m>
                <a:r>
                  <a:rPr lang="en-US" altLang="zh-CN"/>
                  <a:t> </a:t>
                </a:r>
                <a:r>
                  <a:rPr lang="zh-CN" altLang="en-US"/>
                  <a:t>向前换到了位置</a:t>
                </a:r>
                <a:r>
                  <a:rPr lang="en-US" altLang="zh-CN"/>
                  <a:t> </a:t>
                </a:r>
                <a14:m>
                  <m:oMath xmlns:m="http://schemas.openxmlformats.org/officeDocument/2006/math">
                    <m:r>
                      <a:rPr lang="en-US" altLang="zh-CN" i="1">
                        <a:latin typeface="Cambria Math" panose="02040503050406030204" charset="0"/>
                        <a:cs typeface="Cambria Math" panose="02040503050406030204" charset="0"/>
                      </a:rPr>
                      <m:t>𝑖</m:t>
                    </m:r>
                  </m:oMath>
                </a14:m>
                <a:r>
                  <a:rPr lang="zh-CN" altLang="en-US">
                    <a:latin typeface="Cambria Math" panose="02040503050406030204" charset="0"/>
                    <a:cs typeface="Cambria Math" panose="02040503050406030204" charset="0"/>
                  </a:rPr>
                  <a:t>，那么我们可以通过不断归纳直到归纳成一个一次操作的</a:t>
                </a:r>
                <a:r>
                  <a:rPr lang="zh-CN" altLang="en-US">
                    <a:latin typeface="Cambria Math" panose="02040503050406030204" charset="0"/>
                    <a:cs typeface="Cambria Math" panose="02040503050406030204" charset="0"/>
                  </a:rPr>
                  <a:t>问题</a:t>
                </a:r>
                <a:endParaRPr lang="zh-CN" altLang="en-US">
                  <a:latin typeface="Cambria Math" panose="02040503050406030204" charset="0"/>
                  <a:cs typeface="Cambria Math" panose="02040503050406030204" charset="0"/>
                </a:endParaRPr>
              </a:p>
              <a:p>
                <a:r>
                  <a:rPr lang="zh-CN" altLang="en-US">
                    <a:latin typeface="Cambria Math" panose="02040503050406030204" charset="0"/>
                    <a:cs typeface="Cambria Math" panose="02040503050406030204" charset="0"/>
                  </a:rPr>
                  <a:t>因此，好排列的充要条件就是</a:t>
                </a:r>
                <a:r>
                  <a:rPr lang="en-US" altLang="zh-CN">
                    <a:latin typeface="Cambria Math" panose="02040503050406030204" charset="0"/>
                    <a:cs typeface="Cambria Math" panose="02040503050406030204" charset="0"/>
                  </a:rPr>
                  <a:t>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𝑃</m:t>
                        </m:r>
                      </m:e>
                      <m:sub>
                        <m:r>
                          <a:rPr lang="en-US" altLang="zh-CN" i="1">
                            <a:latin typeface="Cambria Math" panose="02040503050406030204" charset="0"/>
                            <a:cs typeface="Cambria Math" panose="02040503050406030204" charset="0"/>
                          </a:rPr>
                          <m:t>𝑖</m:t>
                        </m:r>
                      </m:sub>
                    </m:sSub>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不是</a:t>
                </a:r>
                <a:r>
                  <a:rPr lang="en-US" altLang="zh-CN">
                    <a:latin typeface="Cambria Math" panose="02040503050406030204" charset="0"/>
                    <a:cs typeface="Cambria Math" panose="02040503050406030204" charset="0"/>
                  </a:rPr>
                  <a:t>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𝑃</m:t>
                        </m:r>
                      </m:e>
                      <m:sub>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Sub>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的</a:t>
                </a:r>
                <a:r>
                  <a:rPr lang="zh-CN" altLang="en-US">
                    <a:latin typeface="Cambria Math" panose="02040503050406030204" charset="0"/>
                    <a:cs typeface="Cambria Math" panose="02040503050406030204" charset="0"/>
                  </a:rPr>
                  <a:t>祖先</a:t>
                </a:r>
                <a:endParaRPr lang="zh-CN" altLang="en-US">
                  <a:latin typeface="Cambria Math" panose="02040503050406030204" charset="0"/>
                  <a:cs typeface="Cambria Math" panose="02040503050406030204" charset="0"/>
                </a:endParaRPr>
              </a:p>
              <a:p>
                <a:r>
                  <a:rPr lang="zh-CN" altLang="en-US">
                    <a:latin typeface="Cambria Math" panose="02040503050406030204" charset="0"/>
                    <a:cs typeface="Cambria Math" panose="02040503050406030204" charset="0"/>
                  </a:rPr>
                  <a:t>到这我们可以考虑容斥，容斥哪些位置满足</a:t>
                </a:r>
                <a:r>
                  <a:rPr lang="en-US" altLang="zh-CN">
                    <a:latin typeface="Cambria Math" panose="02040503050406030204" charset="0"/>
                    <a:cs typeface="Cambria Math" panose="02040503050406030204" charset="0"/>
                  </a:rPr>
                  <a:t>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𝑃</m:t>
                        </m:r>
                      </m:e>
                      <m:sub>
                        <m:r>
                          <a:rPr lang="en-US" altLang="zh-CN" i="1">
                            <a:latin typeface="Cambria Math" panose="02040503050406030204" charset="0"/>
                            <a:cs typeface="Cambria Math" panose="02040503050406030204" charset="0"/>
                          </a:rPr>
                          <m:t>𝑖</m:t>
                        </m:r>
                      </m:sub>
                    </m:sSub>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是</a:t>
                </a:r>
                <a:r>
                  <a:rPr lang="en-US" altLang="zh-CN">
                    <a:latin typeface="Cambria Math" panose="02040503050406030204" charset="0"/>
                    <a:cs typeface="Cambria Math" panose="02040503050406030204" charset="0"/>
                  </a:rPr>
                  <a:t>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𝑃</m:t>
                        </m:r>
                      </m:e>
                      <m:sub>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Sub>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的祖先，这些限制会构成一些散点和钦定的组孙</a:t>
                </a:r>
                <a:r>
                  <a:rPr lang="zh-CN" altLang="en-US">
                    <a:latin typeface="Cambria Math" panose="02040503050406030204" charset="0"/>
                    <a:cs typeface="Cambria Math" panose="02040503050406030204" charset="0"/>
                  </a:rPr>
                  <a:t>链</a:t>
                </a:r>
                <a:endParaRPr lang="zh-CN" altLang="en-US">
                  <a:latin typeface="Cambria Math" panose="02040503050406030204" charset="0"/>
                  <a:cs typeface="Cambria Math" panose="02040503050406030204" charset="0"/>
                </a:endParaRPr>
              </a:p>
              <a:p>
                <a:r>
                  <a:rPr lang="zh-CN" altLang="en-US">
                    <a:latin typeface="Cambria Math" panose="02040503050406030204" charset="0"/>
                    <a:cs typeface="Cambria Math" panose="02040503050406030204" charset="0"/>
                  </a:rPr>
                  <a:t>换个角度思考，我们可以考虑在树上钦定了限制的祖孙链后怎么填回树上，如果不在意排列</a:t>
                </a:r>
                <a:r>
                  <a:rPr lang="zh-CN" altLang="en-US">
                    <a:latin typeface="Cambria Math" panose="02040503050406030204" charset="0"/>
                    <a:cs typeface="Cambria Math" panose="02040503050406030204" charset="0"/>
                  </a:rPr>
                  <a:t>权值，这是容易的，只需要记录链的数量</a:t>
                </a:r>
                <a:r>
                  <a:rPr lang="zh-CN" altLang="en-US">
                    <a:latin typeface="Cambria Math" panose="02040503050406030204" charset="0"/>
                    <a:cs typeface="Cambria Math" panose="02040503050406030204" charset="0"/>
                  </a:rPr>
                  <a:t>即可</a:t>
                </a:r>
                <a:endParaRPr lang="zh-CN" altLang="en-US">
                  <a:latin typeface="Cambria Math" panose="02040503050406030204" charset="0"/>
                  <a:cs typeface="Cambria Math" panose="02040503050406030204"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838200" y="1141095"/>
                <a:ext cx="10515600" cy="5036185"/>
              </a:xfrm>
              <a:blipFill rotWithShape="1">
                <a:blip r:embed="rId1"/>
                <a:stretch>
                  <a:fillRect t="-25" b="-1223"/>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718820" y="545465"/>
                <a:ext cx="10634980" cy="5631815"/>
              </a:xfrm>
            </p:spPr>
            <p:txBody>
              <a:bodyPr/>
              <a:p>
                <a:r>
                  <a:rPr lang="zh-CN" altLang="en-US"/>
                  <a:t>而若考虑了权值的贡献，我们可以考虑拆贡献计算，枚举某个位置，再将剩下的位置分为再其之前的和之后的，那么我们只需要知道完整的在它之前的限制链数、完整的在它之后的限制链数</a:t>
                </a:r>
                <a:r>
                  <a:rPr lang="zh-CN" altLang="en-US"/>
                  <a:t>就能计算</a:t>
                </a:r>
                <a:endParaRPr lang="zh-CN" altLang="en-US"/>
              </a:p>
              <a:p>
                <a:r>
                  <a:rPr lang="zh-CN" altLang="en-US"/>
                  <a:t>因此，我们可以考虑设计</a:t>
                </a:r>
                <a:r>
                  <a:rPr lang="en-US" altLang="zh-CN"/>
                  <a:t> </a:t>
                </a:r>
                <a14:m>
                  <m:oMath xmlns:m="http://schemas.openxmlformats.org/officeDocument/2006/math">
                    <m:r>
                      <a:rPr lang="en-US" altLang="zh-CN" i="1">
                        <a:latin typeface="Cambria Math" panose="02040503050406030204" charset="0"/>
                        <a:cs typeface="Cambria Math" panose="02040503050406030204" charset="0"/>
                      </a:rPr>
                      <m:t>𝑑𝑝</m:t>
                    </m:r>
                  </m:oMath>
                </a14:m>
                <a:r>
                  <a:rPr lang="en-US" altLang="zh-CN"/>
                  <a:t> </a:t>
                </a:r>
                <a:r>
                  <a:rPr lang="zh-CN" altLang="en-US"/>
                  <a:t>状态</a:t>
                </a:r>
                <a:r>
                  <a:rPr lang="en-US" altLang="zh-CN"/>
                  <a:t>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𝑓</m:t>
                        </m:r>
                      </m:e>
                      <m:sub>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Sub>
                  </m:oMath>
                </a14:m>
                <a:r>
                  <a:rPr lang="en-US" altLang="zh-CN"/>
                  <a:t> </a:t>
                </a:r>
                <a:r>
                  <a:rPr lang="zh-CN" altLang="en-US"/>
                  <a:t>表示</a:t>
                </a:r>
                <a:r>
                  <a:rPr lang="en-US" altLang="zh-CN"/>
                  <a:t> </a:t>
                </a:r>
                <a14:m>
                  <m:oMath xmlns:m="http://schemas.openxmlformats.org/officeDocument/2006/math">
                    <m:r>
                      <a:rPr lang="en-US" altLang="zh-CN" i="1">
                        <a:latin typeface="Cambria Math" panose="02040503050406030204" charset="0"/>
                        <a:cs typeface="Cambria Math" panose="02040503050406030204" charset="0"/>
                      </a:rPr>
                      <m:t>𝑖</m:t>
                    </m:r>
                  </m:oMath>
                </a14:m>
                <a:r>
                  <a:rPr lang="en-US" altLang="zh-CN"/>
                  <a:t> </a:t>
                </a:r>
                <a:r>
                  <a:rPr lang="zh-CN" altLang="en-US"/>
                  <a:t>子树内，</a:t>
                </a:r>
                <a14:m>
                  <m:oMath xmlns:m="http://schemas.openxmlformats.org/officeDocument/2006/math">
                    <m:r>
                      <a:rPr lang="en-US" altLang="zh-CN" i="1">
                        <a:latin typeface="Cambria Math" panose="02040503050406030204" charset="0"/>
                        <a:cs typeface="Cambria Math" panose="02040503050406030204" charset="0"/>
                      </a:rPr>
                      <m:t>𝑗</m:t>
                    </m:r>
                  </m:oMath>
                </a14:m>
                <a:r>
                  <a:rPr lang="en-US" altLang="zh-CN"/>
                  <a:t> </a:t>
                </a:r>
                <a:r>
                  <a:rPr lang="zh-CN" altLang="en-US"/>
                  <a:t>条</a:t>
                </a:r>
                <a:r>
                  <a:rPr lang="en-US" altLang="zh-CN"/>
                  <a:t> </a:t>
                </a:r>
                <a14:m>
                  <m:oMath xmlns:m="http://schemas.openxmlformats.org/officeDocument/2006/math">
                    <m:r>
                      <a:rPr lang="en-US" altLang="zh-CN" i="1">
                        <a:latin typeface="Cambria Math" panose="02040503050406030204" charset="0"/>
                        <a:cs typeface="Cambria Math" panose="02040503050406030204" charset="0"/>
                      </a:rPr>
                      <m:t>𝑖</m:t>
                    </m:r>
                  </m:oMath>
                </a14:m>
                <a:r>
                  <a:rPr lang="en-US" altLang="zh-CN"/>
                  <a:t> </a:t>
                </a:r>
                <a:r>
                  <a:rPr lang="zh-CN" altLang="en-US"/>
                  <a:t>之前的链，</a:t>
                </a:r>
                <a:r>
                  <a:rPr lang="en-US" altLang="zh-CN"/>
                  <a:t> </a:t>
                </a:r>
                <a14:m>
                  <m:oMath xmlns:m="http://schemas.openxmlformats.org/officeDocument/2006/math">
                    <m:r>
                      <a:rPr lang="en-US" altLang="zh-CN" i="1">
                        <a:latin typeface="Cambria Math" panose="02040503050406030204" charset="0"/>
                        <a:cs typeface="Cambria Math" panose="02040503050406030204" charset="0"/>
                      </a:rPr>
                      <m:t>𝑘</m:t>
                    </m:r>
                  </m:oMath>
                </a14:m>
                <a:r>
                  <a:rPr lang="en-US" altLang="zh-CN"/>
                  <a:t> </a:t>
                </a:r>
                <a:r>
                  <a:rPr lang="zh-CN" altLang="en-US"/>
                  <a:t>条</a:t>
                </a:r>
                <a:r>
                  <a:rPr lang="en-US" altLang="zh-CN"/>
                  <a:t> </a:t>
                </a:r>
                <a14:m>
                  <m:oMath xmlns:m="http://schemas.openxmlformats.org/officeDocument/2006/math">
                    <m:r>
                      <a:rPr lang="en-US" altLang="zh-CN" i="1">
                        <a:latin typeface="Cambria Math" panose="02040503050406030204" charset="0"/>
                        <a:cs typeface="Cambria Math" panose="02040503050406030204" charset="0"/>
                      </a:rPr>
                      <m:t>𝑖</m:t>
                    </m:r>
                  </m:oMath>
                </a14:m>
                <a:r>
                  <a:rPr lang="en-US" altLang="zh-CN"/>
                  <a:t> </a:t>
                </a:r>
                <a:r>
                  <a:rPr lang="zh-CN" altLang="en-US"/>
                  <a:t>之后的链，</a:t>
                </a:r>
                <a:r>
                  <a:rPr lang="en-US" altLang="zh-CN"/>
                  <a:t>0/1</a:t>
                </a:r>
                <a:r>
                  <a:rPr lang="zh-CN" altLang="en-US"/>
                  <a:t>表示子树内是否已经钦定了贡献位置，转移类似一个两个维度的卷积，但由树形背包的复杂度分析可知这个东西复杂度上限就是</a:t>
                </a:r>
                <a:r>
                  <a:rPr lang="en-US" altLang="zh-CN"/>
                  <a:t> </a:t>
                </a:r>
                <a14:m>
                  <m:oMath xmlns:m="http://schemas.openxmlformats.org/officeDocument/2006/math">
                    <m:r>
                      <a:rPr lang="en-US" altLang="zh-CN" i="1">
                        <a:latin typeface="Cambria Math" panose="02040503050406030204" charset="0"/>
                        <a:cs typeface="Cambria Math" panose="02040503050406030204" charset="0"/>
                      </a:rPr>
                      <m:t>𝑂</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𝑛</m:t>
                        </m:r>
                      </m:e>
                      <m:sup>
                        <m:r>
                          <a:rPr lang="en-US" altLang="zh-CN" i="1">
                            <a:latin typeface="Cambria Math" panose="02040503050406030204" charset="0"/>
                            <a:cs typeface="Cambria Math" panose="02040503050406030204" charset="0"/>
                          </a:rPr>
                          <m:t>4</m:t>
                        </m:r>
                      </m:sup>
                    </m:sSup>
                    <m:r>
                      <a:rPr lang="en-US" altLang="zh-CN" i="1">
                        <a:latin typeface="Cambria Math" panose="02040503050406030204" charset="0"/>
                        <a:cs typeface="Cambria Math" panose="02040503050406030204" charset="0"/>
                      </a:rPr>
                      <m:t>)</m:t>
                    </m:r>
                  </m:oMath>
                </a14:m>
                <a:endParaRPr lang="zh-CN" altLang="en-US"/>
              </a:p>
              <a:p>
                <a:endParaRPr lang="zh-CN" altLang="en-US"/>
              </a:p>
            </p:txBody>
          </p:sp>
        </mc:Choice>
        <mc:Fallback>
          <p:sp>
            <p:nvSpPr>
              <p:cNvPr id="3" name="内容占位符 2"/>
              <p:cNvSpPr>
                <a:spLocks noRot="1" noChangeAspect="1" noMove="1" noResize="1" noEditPoints="1" noAdjustHandles="1" noChangeArrowheads="1" noChangeShapeType="1" noTextEdit="1"/>
              </p:cNvSpPr>
              <p:nvPr>
                <p:ph idx="1"/>
              </p:nvPr>
            </p:nvSpPr>
            <p:spPr>
              <a:xfrm>
                <a:off x="718820" y="545465"/>
                <a:ext cx="10634980" cy="5631815"/>
              </a:xfrm>
              <a:blipFill rotWithShape="1">
                <a:blip r:embed="rId1"/>
                <a:stretch>
                  <a:fillRect t="-23"/>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3844</Words>
  <Application>WPS 演示</Application>
  <PresentationFormat>宽屏</PresentationFormat>
  <Paragraphs>93</Paragraphs>
  <Slides>16</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16</vt:i4>
      </vt:variant>
    </vt:vector>
  </HeadingPairs>
  <TitlesOfParts>
    <vt:vector size="31" baseType="lpstr">
      <vt:lpstr>Arial</vt:lpstr>
      <vt:lpstr>宋体</vt:lpstr>
      <vt:lpstr>Wingdings</vt:lpstr>
      <vt:lpstr>Cambria Math</vt:lpstr>
      <vt:lpstr>Kingsoft Math</vt:lpstr>
      <vt:lpstr>DejaVu Math TeX Gyre</vt:lpstr>
      <vt:lpstr>微软雅黑</vt:lpstr>
      <vt:lpstr>汉仪旗黑</vt:lpstr>
      <vt:lpstr>Calibri</vt:lpstr>
      <vt:lpstr>Helvetica Neue</vt:lpstr>
      <vt:lpstr>微软雅黑</vt:lpstr>
      <vt:lpstr>宋体</vt:lpstr>
      <vt:lpstr>Arial Unicode MS</vt:lpstr>
      <vt:lpstr>汉仪书宋二KW</vt:lpstr>
      <vt:lpstr>WPS</vt:lpstr>
      <vt:lpstr>计数杂题（1）</vt:lpstr>
      <vt:lpstr>[ICPC 2019 WF] Traffic Blights</vt:lpstr>
      <vt:lpstr>PowerPoint 演示文稿</vt:lpstr>
      <vt:lpstr>CF1842G Tenzing and Random Operations</vt:lpstr>
      <vt:lpstr>PowerPoint 演示文稿</vt:lpstr>
      <vt:lpstr>[CTT 2024] 乘积的期望</vt:lpstr>
      <vt:lpstr>PowerPoint 演示文稿</vt:lpstr>
      <vt:lpstr>PowerPoint 演示文稿</vt:lpstr>
      <vt:lpstr>CF1774G Segment Covering</vt:lpstr>
      <vt:lpstr>PowerPoint 演示文稿</vt:lpstr>
      <vt:lpstr>PowerPoint 演示文稿</vt:lpstr>
      <vt:lpstr>[PKUSC2023] 狼人杀</vt:lpstr>
      <vt:lpstr>PowerPoint 演示文稿</vt:lpstr>
      <vt:lpstr>AGC068D Sum of Hash of Lexmin</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asus</dc:creator>
  <cp:lastModifiedBy>johnwick</cp:lastModifiedBy>
  <cp:revision>367</cp:revision>
  <dcterms:created xsi:type="dcterms:W3CDTF">2026-03-02T04:13:44Z</dcterms:created>
  <dcterms:modified xsi:type="dcterms:W3CDTF">2026-03-02T04:13:44Z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2052-12.1.23135.23135</vt:lpwstr>
  </property>
  <property fmtid="{D5CDD505-2E9C-101B-9397-08002B2CF9AE}" pid="3" name="ICV">
    <vt:lpwstr>2E82D479141577B66F0EA56945032BDB_43</vt:lpwstr>
  </property>
</Properties>
</file>